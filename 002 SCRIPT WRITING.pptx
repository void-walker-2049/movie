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p:sldMasterIdLst>
    <p:sldMasterId id="2147483648" r:id="rId1"/>
  </p:sldMasterIdLst>
  <p:notesMasterIdLst>
    <p:notesMasterId r:id="rId29"/>
  </p:notesMasterIdLst>
  <p:sldIdLst>
    <p:sldId id="256" r:id="rId2"/>
    <p:sldId id="312" r:id="rId3"/>
    <p:sldId id="313" r:id="rId4"/>
    <p:sldId id="309" r:id="rId5"/>
    <p:sldId id="314" r:id="rId6"/>
    <p:sldId id="315" r:id="rId7"/>
    <p:sldId id="316" r:id="rId8"/>
    <p:sldId id="318" r:id="rId9"/>
    <p:sldId id="317" r:id="rId10"/>
    <p:sldId id="319" r:id="rId11"/>
    <p:sldId id="320" r:id="rId12"/>
    <p:sldId id="321" r:id="rId13"/>
    <p:sldId id="322" r:id="rId14"/>
    <p:sldId id="325" r:id="rId15"/>
    <p:sldId id="323" r:id="rId16"/>
    <p:sldId id="324" r:id="rId17"/>
    <p:sldId id="326" r:id="rId18"/>
    <p:sldId id="327" r:id="rId19"/>
    <p:sldId id="328" r:id="rId20"/>
    <p:sldId id="329" r:id="rId21"/>
    <p:sldId id="330" r:id="rId22"/>
    <p:sldId id="331" r:id="rId23"/>
    <p:sldId id="332" r:id="rId24"/>
    <p:sldId id="333" r:id="rId25"/>
    <p:sldId id="334" r:id="rId26"/>
    <p:sldId id="310" r:id="rId27"/>
    <p:sldId id="311" r:id="rId28"/>
  </p:sldIdLst>
  <p:sldSz cx="9144000" cy="6858000" type="screen4x3"/>
  <p:notesSz cx="6858000" cy="9144000"/>
  <p:defaultTextStyle>
    <a:defPPr>
      <a:defRPr lang="tr-TR"/>
    </a:defPPr>
    <a:lvl1pPr algn="l" rtl="0" fontAlgn="base" hangingPunct="0">
      <a:spcBef>
        <a:spcPct val="0"/>
      </a:spcBef>
      <a:spcAft>
        <a:spcPct val="0"/>
      </a:spcAft>
      <a:defRPr kern="1200">
        <a:solidFill>
          <a:srgbClr val="000000"/>
        </a:solidFill>
        <a:latin typeface="Calibri" pitchFamily="34" charset="0"/>
        <a:ea typeface="+mn-ea"/>
        <a:cs typeface="Calibri" pitchFamily="34" charset="0"/>
        <a:sym typeface="Calibri" pitchFamily="34" charset="0"/>
      </a:defRPr>
    </a:lvl1pPr>
    <a:lvl2pPr marL="457200" algn="l" rtl="0" fontAlgn="base" hangingPunct="0">
      <a:spcBef>
        <a:spcPct val="0"/>
      </a:spcBef>
      <a:spcAft>
        <a:spcPct val="0"/>
      </a:spcAft>
      <a:defRPr kern="1200">
        <a:solidFill>
          <a:srgbClr val="000000"/>
        </a:solidFill>
        <a:latin typeface="Calibri" pitchFamily="34" charset="0"/>
        <a:ea typeface="+mn-ea"/>
        <a:cs typeface="Calibri" pitchFamily="34" charset="0"/>
        <a:sym typeface="Calibri" pitchFamily="34" charset="0"/>
      </a:defRPr>
    </a:lvl2pPr>
    <a:lvl3pPr marL="914400" algn="l" rtl="0" fontAlgn="base" hangingPunct="0">
      <a:spcBef>
        <a:spcPct val="0"/>
      </a:spcBef>
      <a:spcAft>
        <a:spcPct val="0"/>
      </a:spcAft>
      <a:defRPr kern="1200">
        <a:solidFill>
          <a:srgbClr val="000000"/>
        </a:solidFill>
        <a:latin typeface="Calibri" pitchFamily="34" charset="0"/>
        <a:ea typeface="+mn-ea"/>
        <a:cs typeface="Calibri" pitchFamily="34" charset="0"/>
        <a:sym typeface="Calibri" pitchFamily="34" charset="0"/>
      </a:defRPr>
    </a:lvl3pPr>
    <a:lvl4pPr marL="1371600" algn="l" rtl="0" fontAlgn="base" hangingPunct="0">
      <a:spcBef>
        <a:spcPct val="0"/>
      </a:spcBef>
      <a:spcAft>
        <a:spcPct val="0"/>
      </a:spcAft>
      <a:defRPr kern="1200">
        <a:solidFill>
          <a:srgbClr val="000000"/>
        </a:solidFill>
        <a:latin typeface="Calibri" pitchFamily="34" charset="0"/>
        <a:ea typeface="+mn-ea"/>
        <a:cs typeface="Calibri" pitchFamily="34" charset="0"/>
        <a:sym typeface="Calibri" pitchFamily="34" charset="0"/>
      </a:defRPr>
    </a:lvl4pPr>
    <a:lvl5pPr marL="1828800" algn="l" rtl="0" fontAlgn="base" hangingPunct="0">
      <a:spcBef>
        <a:spcPct val="0"/>
      </a:spcBef>
      <a:spcAft>
        <a:spcPct val="0"/>
      </a:spcAft>
      <a:defRPr kern="1200">
        <a:solidFill>
          <a:srgbClr val="000000"/>
        </a:solidFill>
        <a:latin typeface="Calibri" pitchFamily="34" charset="0"/>
        <a:ea typeface="+mn-ea"/>
        <a:cs typeface="Calibri" pitchFamily="34" charset="0"/>
        <a:sym typeface="Calibri" pitchFamily="34" charset="0"/>
      </a:defRPr>
    </a:lvl5pPr>
    <a:lvl6pPr marL="2286000" algn="l" defTabSz="914400" rtl="0" eaLnBrk="1" latinLnBrk="0" hangingPunct="1">
      <a:defRPr kern="1200">
        <a:solidFill>
          <a:srgbClr val="000000"/>
        </a:solidFill>
        <a:latin typeface="Calibri" pitchFamily="34" charset="0"/>
        <a:ea typeface="+mn-ea"/>
        <a:cs typeface="Calibri" pitchFamily="34" charset="0"/>
        <a:sym typeface="Calibri" pitchFamily="34" charset="0"/>
      </a:defRPr>
    </a:lvl6pPr>
    <a:lvl7pPr marL="2743200" algn="l" defTabSz="914400" rtl="0" eaLnBrk="1" latinLnBrk="0" hangingPunct="1">
      <a:defRPr kern="1200">
        <a:solidFill>
          <a:srgbClr val="000000"/>
        </a:solidFill>
        <a:latin typeface="Calibri" pitchFamily="34" charset="0"/>
        <a:ea typeface="+mn-ea"/>
        <a:cs typeface="Calibri" pitchFamily="34" charset="0"/>
        <a:sym typeface="Calibri" pitchFamily="34" charset="0"/>
      </a:defRPr>
    </a:lvl7pPr>
    <a:lvl8pPr marL="3200400" algn="l" defTabSz="914400" rtl="0" eaLnBrk="1" latinLnBrk="0" hangingPunct="1">
      <a:defRPr kern="1200">
        <a:solidFill>
          <a:srgbClr val="000000"/>
        </a:solidFill>
        <a:latin typeface="Calibri" pitchFamily="34" charset="0"/>
        <a:ea typeface="+mn-ea"/>
        <a:cs typeface="Calibri" pitchFamily="34" charset="0"/>
        <a:sym typeface="Calibri" pitchFamily="34" charset="0"/>
      </a:defRPr>
    </a:lvl8pPr>
    <a:lvl9pPr marL="3657600" algn="l" defTabSz="914400" rtl="0" eaLnBrk="1" latinLnBrk="0" hangingPunct="1">
      <a:defRPr kern="1200">
        <a:solidFill>
          <a:srgbClr val="000000"/>
        </a:solidFill>
        <a:latin typeface="Calibri" pitchFamily="34" charset="0"/>
        <a:ea typeface="+mn-ea"/>
        <a:cs typeface="Calibri" pitchFamily="34" charset="0"/>
        <a:sym typeface="Calibri"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6" d="100"/>
          <a:sy n="96" d="100"/>
        </p:scale>
        <p:origin x="1572" y="19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1"/>
          <p:cNvSpPr>
            <a:spLocks noGrp="1" noRot="1" noChangeAspect="1"/>
          </p:cNvSpPr>
          <p:nvPr>
            <p:ph type="sldImg"/>
          </p:nvPr>
        </p:nvSpPr>
        <p:spPr bwMode="auto">
          <a:xfrm>
            <a:off x="1143000" y="685800"/>
            <a:ext cx="4572000" cy="3429000"/>
          </a:xfrm>
          <a:prstGeom prst="rect">
            <a:avLst/>
          </a:prstGeom>
          <a:noFill/>
          <a:ln w="9525">
            <a:noFill/>
            <a:round/>
            <a:headEnd/>
            <a:tailEnd/>
          </a:ln>
        </p:spPr>
      </p:sp>
      <p:sp>
        <p:nvSpPr>
          <p:cNvPr id="2050" name="Rectangle 2"/>
          <p:cNvSpPr>
            <a:spLocks noGrp="1"/>
          </p:cNvSpPr>
          <p:nvPr>
            <p:ph type="body" sz="quarter" idx="1"/>
          </p:nvPr>
        </p:nvSpPr>
        <p:spPr bwMode="auto">
          <a:xfrm>
            <a:off x="914400" y="4343400"/>
            <a:ext cx="5029200" cy="4114800"/>
          </a:xfrm>
          <a:prstGeom prst="rect">
            <a:avLst/>
          </a:prstGeom>
          <a:noFill/>
          <a:ln w="9525" cap="flat" cmpd="sng">
            <a:noFill/>
            <a:prstDash val="solid"/>
            <a:round/>
            <a:headEnd type="none" w="med" len="med"/>
            <a:tailEnd type="none" w="med" len="med"/>
          </a:ln>
          <a:effectLst/>
        </p:spPr>
        <p:txBody>
          <a:bodyPr vert="horz" wrap="square" lIns="91440" tIns="45720" rIns="91440" bIns="45720" numCol="1" anchor="t" anchorCtr="0" compatLnSpc="1">
            <a:prstTxWarp prst="textNoShape">
              <a:avLst/>
            </a:prstTxWarp>
          </a:bodyPr>
          <a:lstStyle/>
          <a:p>
            <a:pPr lvl="0"/>
            <a:r>
              <a:rPr lang="tr-TR" noProof="0">
                <a:sym typeface="Helvetica Neue" pitchFamily="50"/>
              </a:rPr>
              <a:t>Click to edit Master text styles</a:t>
            </a:r>
          </a:p>
          <a:p>
            <a:pPr lvl="1"/>
            <a:r>
              <a:rPr lang="tr-TR" noProof="0">
                <a:sym typeface="Helvetica Neue" pitchFamily="50"/>
              </a:rPr>
              <a:t>Second level</a:t>
            </a:r>
          </a:p>
          <a:p>
            <a:pPr lvl="2"/>
            <a:r>
              <a:rPr lang="tr-TR" noProof="0">
                <a:sym typeface="Helvetica Neue" pitchFamily="50"/>
              </a:rPr>
              <a:t>Third level</a:t>
            </a:r>
          </a:p>
          <a:p>
            <a:pPr lvl="3"/>
            <a:r>
              <a:rPr lang="tr-TR" noProof="0">
                <a:sym typeface="Helvetica Neue" pitchFamily="50"/>
              </a:rPr>
              <a:t>Fourth level</a:t>
            </a:r>
          </a:p>
          <a:p>
            <a:pPr lvl="4"/>
            <a:r>
              <a:rPr lang="tr-TR" noProof="0">
                <a:sym typeface="Helvetica Neue" pitchFamily="50"/>
              </a:rPr>
              <a:t>Fifth level</a:t>
            </a:r>
          </a:p>
        </p:txBody>
      </p:sp>
    </p:spTree>
  </p:cSld>
  <p:clrMap bg1="lt1" tx1="dk1" bg2="lt2" tx2="dk2" accent1="accent1" accent2="accent2" accent3="accent3" accent4="accent4" accent5="accent5" accent6="accent6" hlink="hlink" folHlink="folHlink"/>
  <p:notesStyle>
    <a:lvl1pPr algn="l" defTabSz="457200" rtl="0" eaLnBrk="0" fontAlgn="base" hangingPunct="0">
      <a:lnSpc>
        <a:spcPct val="117000"/>
      </a:lnSpc>
      <a:spcBef>
        <a:spcPct val="0"/>
      </a:spcBef>
      <a:spcAft>
        <a:spcPct val="0"/>
      </a:spcAft>
      <a:defRPr sz="2200" kern="1200">
        <a:solidFill>
          <a:srgbClr val="000000"/>
        </a:solidFill>
        <a:latin typeface="Helvetica Neue" pitchFamily="50"/>
        <a:ea typeface="Helvetica Neue" pitchFamily="50"/>
        <a:cs typeface="Helvetica Neue" pitchFamily="50"/>
        <a:sym typeface="Helvetica Neue" pitchFamily="50"/>
      </a:defRPr>
    </a:lvl1pPr>
    <a:lvl2pPr indent="228600" algn="l" defTabSz="457200" rtl="0" eaLnBrk="0" fontAlgn="base" hangingPunct="0">
      <a:lnSpc>
        <a:spcPct val="117000"/>
      </a:lnSpc>
      <a:spcBef>
        <a:spcPct val="0"/>
      </a:spcBef>
      <a:spcAft>
        <a:spcPct val="0"/>
      </a:spcAft>
      <a:defRPr sz="2200" kern="1200">
        <a:solidFill>
          <a:srgbClr val="000000"/>
        </a:solidFill>
        <a:latin typeface="Helvetica Neue" pitchFamily="50"/>
        <a:ea typeface="Helvetica Neue" pitchFamily="50"/>
        <a:cs typeface="Helvetica Neue" pitchFamily="50"/>
        <a:sym typeface="Helvetica Neue" pitchFamily="50"/>
      </a:defRPr>
    </a:lvl2pPr>
    <a:lvl3pPr indent="457200" algn="l" defTabSz="457200" rtl="0" eaLnBrk="0" fontAlgn="base" hangingPunct="0">
      <a:lnSpc>
        <a:spcPct val="117000"/>
      </a:lnSpc>
      <a:spcBef>
        <a:spcPct val="0"/>
      </a:spcBef>
      <a:spcAft>
        <a:spcPct val="0"/>
      </a:spcAft>
      <a:defRPr sz="2200" kern="1200">
        <a:solidFill>
          <a:srgbClr val="000000"/>
        </a:solidFill>
        <a:latin typeface="Helvetica Neue" pitchFamily="50"/>
        <a:ea typeface="Helvetica Neue" pitchFamily="50"/>
        <a:cs typeface="Helvetica Neue" pitchFamily="50"/>
        <a:sym typeface="Helvetica Neue" pitchFamily="50"/>
      </a:defRPr>
    </a:lvl3pPr>
    <a:lvl4pPr indent="685800" algn="l" defTabSz="457200" rtl="0" eaLnBrk="0" fontAlgn="base" hangingPunct="0">
      <a:lnSpc>
        <a:spcPct val="117000"/>
      </a:lnSpc>
      <a:spcBef>
        <a:spcPct val="0"/>
      </a:spcBef>
      <a:spcAft>
        <a:spcPct val="0"/>
      </a:spcAft>
      <a:defRPr sz="2200" kern="1200">
        <a:solidFill>
          <a:srgbClr val="000000"/>
        </a:solidFill>
        <a:latin typeface="Helvetica Neue" pitchFamily="50"/>
        <a:ea typeface="Helvetica Neue" pitchFamily="50"/>
        <a:cs typeface="Helvetica Neue" pitchFamily="50"/>
        <a:sym typeface="Helvetica Neue" pitchFamily="50"/>
      </a:defRPr>
    </a:lvl4pPr>
    <a:lvl5pPr indent="914400" algn="l" defTabSz="457200" rtl="0" eaLnBrk="0" fontAlgn="base" hangingPunct="0">
      <a:lnSpc>
        <a:spcPct val="117000"/>
      </a:lnSpc>
      <a:spcBef>
        <a:spcPct val="0"/>
      </a:spcBef>
      <a:spcAft>
        <a:spcPct val="0"/>
      </a:spcAft>
      <a:defRPr sz="2200" kern="1200">
        <a:solidFill>
          <a:srgbClr val="000000"/>
        </a:solidFill>
        <a:latin typeface="Helvetica Neue" pitchFamily="50"/>
        <a:ea typeface="Helvetica Neue" pitchFamily="50"/>
        <a:cs typeface="Helvetica Neue" pitchFamily="50"/>
        <a:sym typeface="Helvetica Neue" pitchFamily="5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tr-TR"/>
          </a:p>
        </p:txBody>
      </p:sp>
      <p:sp>
        <p:nvSpPr>
          <p:cNvPr id="4" name="Rectangle 3"/>
          <p:cNvSpPr>
            <a:spLocks noGrp="1"/>
          </p:cNvSpPr>
          <p:nvPr>
            <p:ph type="sldNum" sz="quarter" idx="10"/>
          </p:nvPr>
        </p:nvSpPr>
        <p:spPr/>
        <p:txBody>
          <a:bodyPr/>
          <a:lstStyle>
            <a:lvl1pPr>
              <a:defRPr/>
            </a:lvl1pPr>
          </a:lstStyle>
          <a:p>
            <a:pPr>
              <a:defRPr/>
            </a:pPr>
            <a:fld id="{E06B4CB9-04AB-4FD2-9CAB-833971978A35}" type="slidenum">
              <a:rPr lang="tr-TR"/>
              <a:pPr>
                <a:defRPr/>
              </a:pPr>
              <a:t>‹#›</a:t>
            </a:fld>
            <a:endParaRPr lang="tr-TR"/>
          </a:p>
        </p:txBody>
      </p:sp>
    </p:spTree>
  </p:cSld>
  <p:clrMapOvr>
    <a:masterClrMapping/>
  </p:clrMapOvr>
  <p:transition spd="med">
    <p:push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Rectangle 3"/>
          <p:cNvSpPr>
            <a:spLocks noGrp="1"/>
          </p:cNvSpPr>
          <p:nvPr>
            <p:ph type="sldNum" sz="quarter" idx="10"/>
          </p:nvPr>
        </p:nvSpPr>
        <p:spPr/>
        <p:txBody>
          <a:bodyPr/>
          <a:lstStyle>
            <a:lvl1pPr>
              <a:defRPr/>
            </a:lvl1pPr>
          </a:lstStyle>
          <a:p>
            <a:pPr>
              <a:defRPr/>
            </a:pPr>
            <a:fld id="{A252AD6F-2E56-4F6D-BEA0-C629EC3C4E9D}" type="slidenum">
              <a:rPr lang="tr-TR"/>
              <a:pPr>
                <a:defRPr/>
              </a:pPr>
              <a:t>‹#›</a:t>
            </a:fld>
            <a:endParaRPr lang="tr-TR"/>
          </a:p>
        </p:txBody>
      </p:sp>
    </p:spTree>
  </p:cSld>
  <p:clrMapOvr>
    <a:masterClrMapping/>
  </p:clrMapOvr>
  <p:transition spd="med">
    <p:push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p:cNvSpPr>
          <p:nvPr>
            <p:ph type="sldNum" sz="quarter" idx="10"/>
          </p:nvPr>
        </p:nvSpPr>
        <p:spPr/>
        <p:txBody>
          <a:bodyPr/>
          <a:lstStyle>
            <a:lvl1pPr>
              <a:defRPr/>
            </a:lvl1pPr>
          </a:lstStyle>
          <a:p>
            <a:pPr>
              <a:defRPr/>
            </a:pPr>
            <a:fld id="{D34F3B64-C3E0-4C24-92A0-5EB6174C197E}" type="slidenum">
              <a:rPr lang="tr-TR"/>
              <a:pPr>
                <a:defRPr/>
              </a:pPr>
              <a:t>‹#›</a:t>
            </a:fld>
            <a:endParaRPr lang="tr-TR"/>
          </a:p>
        </p:txBody>
      </p:sp>
    </p:spTree>
  </p:cSld>
  <p:clrMapOvr>
    <a:masterClrMapping/>
  </p:clrMapOvr>
  <p:transition spd="med">
    <p:push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457200" y="1600200"/>
            <a:ext cx="4038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8200" y="1600200"/>
            <a:ext cx="4038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Rectangle 3"/>
          <p:cNvSpPr>
            <a:spLocks noGrp="1"/>
          </p:cNvSpPr>
          <p:nvPr>
            <p:ph type="sldNum" sz="quarter" idx="10"/>
          </p:nvPr>
        </p:nvSpPr>
        <p:spPr/>
        <p:txBody>
          <a:bodyPr/>
          <a:lstStyle>
            <a:lvl1pPr>
              <a:defRPr/>
            </a:lvl1pPr>
          </a:lstStyle>
          <a:p>
            <a:pPr>
              <a:defRPr/>
            </a:pPr>
            <a:fld id="{0F0CD952-F109-45B7-B528-0BF1F548AFB4}" type="slidenum">
              <a:rPr lang="tr-TR"/>
              <a:pPr>
                <a:defRPr/>
              </a:pPr>
              <a:t>‹#›</a:t>
            </a:fld>
            <a:endParaRPr lang="tr-TR"/>
          </a:p>
        </p:txBody>
      </p:sp>
    </p:spTree>
  </p:cSld>
  <p:clrMapOvr>
    <a:masterClrMapping/>
  </p:clrMapOvr>
  <p:transition spd="med">
    <p:push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Rectangle 3"/>
          <p:cNvSpPr>
            <a:spLocks noGrp="1"/>
          </p:cNvSpPr>
          <p:nvPr>
            <p:ph type="sldNum" sz="quarter" idx="10"/>
          </p:nvPr>
        </p:nvSpPr>
        <p:spPr/>
        <p:txBody>
          <a:bodyPr/>
          <a:lstStyle>
            <a:lvl1pPr>
              <a:defRPr/>
            </a:lvl1pPr>
          </a:lstStyle>
          <a:p>
            <a:pPr>
              <a:defRPr/>
            </a:pPr>
            <a:fld id="{983317B7-5319-45AB-902F-00B19A3A5490}" type="slidenum">
              <a:rPr lang="tr-TR"/>
              <a:pPr>
                <a:defRPr/>
              </a:pPr>
              <a:t>‹#›</a:t>
            </a:fld>
            <a:endParaRPr lang="tr-TR"/>
          </a:p>
        </p:txBody>
      </p:sp>
    </p:spTree>
  </p:cSld>
  <p:clrMapOvr>
    <a:masterClrMapping/>
  </p:clrMapOvr>
  <p:transition spd="med">
    <p:push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Rectangle 3"/>
          <p:cNvSpPr>
            <a:spLocks noGrp="1"/>
          </p:cNvSpPr>
          <p:nvPr>
            <p:ph type="sldNum" sz="quarter" idx="10"/>
          </p:nvPr>
        </p:nvSpPr>
        <p:spPr/>
        <p:txBody>
          <a:bodyPr/>
          <a:lstStyle>
            <a:lvl1pPr>
              <a:defRPr/>
            </a:lvl1pPr>
          </a:lstStyle>
          <a:p>
            <a:pPr>
              <a:defRPr/>
            </a:pPr>
            <a:fld id="{5726978E-C5A9-4D5E-BF38-F98B14719D94}" type="slidenum">
              <a:rPr lang="tr-TR"/>
              <a:pPr>
                <a:defRPr/>
              </a:pPr>
              <a:t>‹#›</a:t>
            </a:fld>
            <a:endParaRPr lang="tr-TR"/>
          </a:p>
        </p:txBody>
      </p:sp>
    </p:spTree>
  </p:cSld>
  <p:clrMapOvr>
    <a:masterClrMapping/>
  </p:clrMapOvr>
  <p:transition spd="med">
    <p:push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p:cNvSpPr>
          <p:nvPr>
            <p:ph type="sldNum" sz="quarter" idx="10"/>
          </p:nvPr>
        </p:nvSpPr>
        <p:spPr/>
        <p:txBody>
          <a:bodyPr/>
          <a:lstStyle>
            <a:lvl1pPr>
              <a:defRPr/>
            </a:lvl1pPr>
          </a:lstStyle>
          <a:p>
            <a:pPr>
              <a:defRPr/>
            </a:pPr>
            <a:fld id="{CB539839-51E4-4817-9B39-41511992FA01}" type="slidenum">
              <a:rPr lang="tr-TR"/>
              <a:pPr>
                <a:defRPr/>
              </a:pPr>
              <a:t>‹#›</a:t>
            </a:fld>
            <a:endParaRPr lang="tr-TR"/>
          </a:p>
        </p:txBody>
      </p:sp>
    </p:spTree>
  </p:cSld>
  <p:clrMapOvr>
    <a:masterClrMapping/>
  </p:clrMapOvr>
  <p:transition spd="med">
    <p:push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p:cNvSpPr>
          <p:nvPr>
            <p:ph type="sldNum" sz="quarter" idx="10"/>
          </p:nvPr>
        </p:nvSpPr>
        <p:spPr/>
        <p:txBody>
          <a:bodyPr/>
          <a:lstStyle>
            <a:lvl1pPr>
              <a:defRPr/>
            </a:lvl1pPr>
          </a:lstStyle>
          <a:p>
            <a:pPr>
              <a:defRPr/>
            </a:pPr>
            <a:fld id="{760A9A6F-339B-4878-951A-6A3E0970CD27}" type="slidenum">
              <a:rPr lang="tr-TR"/>
              <a:pPr>
                <a:defRPr/>
              </a:pPr>
              <a:t>‹#›</a:t>
            </a:fld>
            <a:endParaRPr lang="tr-TR"/>
          </a:p>
        </p:txBody>
      </p:sp>
    </p:spTree>
  </p:cSld>
  <p:clrMapOvr>
    <a:masterClrMapping/>
  </p:clrMapOvr>
  <p:transition spd="med">
    <p:push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p:cNvSpPr>
          <p:nvPr>
            <p:ph type="sldNum" sz="quarter" idx="10"/>
          </p:nvPr>
        </p:nvSpPr>
        <p:spPr/>
        <p:txBody>
          <a:bodyPr/>
          <a:lstStyle>
            <a:lvl1pPr>
              <a:defRPr/>
            </a:lvl1pPr>
          </a:lstStyle>
          <a:p>
            <a:pPr>
              <a:defRPr/>
            </a:pPr>
            <a:fld id="{6CA6530E-38A0-48EC-B402-BF3AB8AD34CC}" type="slidenum">
              <a:rPr lang="tr-TR"/>
              <a:pPr>
                <a:defRPr/>
              </a:pPr>
              <a:t>‹#›</a:t>
            </a:fld>
            <a:endParaRPr lang="tr-TR"/>
          </a:p>
        </p:txBody>
      </p:sp>
    </p:spTree>
  </p:cSld>
  <p:clrMapOvr>
    <a:masterClrMapping/>
  </p:clrMapOvr>
  <p:transition spd="med">
    <p:push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Rectangle 3"/>
          <p:cNvSpPr>
            <a:spLocks noGrp="1"/>
          </p:cNvSpPr>
          <p:nvPr>
            <p:ph type="sldNum" sz="quarter" idx="10"/>
          </p:nvPr>
        </p:nvSpPr>
        <p:spPr/>
        <p:txBody>
          <a:bodyPr/>
          <a:lstStyle>
            <a:lvl1pPr>
              <a:defRPr/>
            </a:lvl1pPr>
          </a:lstStyle>
          <a:p>
            <a:pPr>
              <a:defRPr/>
            </a:pPr>
            <a:fld id="{F89C7303-2172-4417-9D18-B5C80B0C9826}" type="slidenum">
              <a:rPr lang="tr-TR"/>
              <a:pPr>
                <a:defRPr/>
              </a:pPr>
              <a:t>‹#›</a:t>
            </a:fld>
            <a:endParaRPr lang="tr-TR"/>
          </a:p>
        </p:txBody>
      </p:sp>
    </p:spTree>
  </p:cSld>
  <p:clrMapOvr>
    <a:masterClrMapping/>
  </p:clrMapOvr>
  <p:transition spd="med">
    <p:push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2075"/>
            <a:ext cx="2057400" cy="6765925"/>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457200" y="92075"/>
            <a:ext cx="6019800" cy="67659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Rectangle 3"/>
          <p:cNvSpPr>
            <a:spLocks noGrp="1"/>
          </p:cNvSpPr>
          <p:nvPr>
            <p:ph type="sldNum" sz="quarter" idx="10"/>
          </p:nvPr>
        </p:nvSpPr>
        <p:spPr/>
        <p:txBody>
          <a:bodyPr/>
          <a:lstStyle>
            <a:lvl1pPr>
              <a:defRPr/>
            </a:lvl1pPr>
          </a:lstStyle>
          <a:p>
            <a:pPr>
              <a:defRPr/>
            </a:pPr>
            <a:fld id="{593F03B8-A135-4D14-9C17-09E6B01A8C67}" type="slidenum">
              <a:rPr lang="tr-TR"/>
              <a:pPr>
                <a:defRPr/>
              </a:pPr>
              <a:t>‹#›</a:t>
            </a:fld>
            <a:endParaRPr lang="tr-TR"/>
          </a:p>
        </p:txBody>
      </p:sp>
    </p:spTree>
  </p:cSld>
  <p:clrMapOvr>
    <a:masterClrMapping/>
  </p:clrMapOvr>
  <p:transition spd="med">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bwMode="auto">
          <a:xfrm>
            <a:off x="457200" y="92075"/>
            <a:ext cx="8229600" cy="1508125"/>
          </a:xfrm>
          <a:prstGeom prst="rect">
            <a:avLst/>
          </a:prstGeom>
          <a:noFill/>
          <a:ln w="12700">
            <a:noFill/>
            <a:miter lim="400000"/>
            <a:headEnd/>
            <a:tailEnd/>
          </a:ln>
        </p:spPr>
        <p:txBody>
          <a:bodyPr vert="horz" wrap="square" lIns="45720" tIns="45720" rIns="45720" bIns="45720" numCol="1" anchor="ctr" anchorCtr="0" compatLnSpc="1">
            <a:prstTxWarp prst="textNoShape">
              <a:avLst/>
            </a:prstTxWarp>
          </a:bodyPr>
          <a:lstStyle/>
          <a:p>
            <a:pPr lvl="0"/>
            <a:r>
              <a:rPr lang="tr-TR">
                <a:sym typeface="Calibri" pitchFamily="34" charset="0"/>
              </a:rPr>
              <a:t>Click to edit Master title style</a:t>
            </a:r>
          </a:p>
        </p:txBody>
      </p:sp>
      <p:sp>
        <p:nvSpPr>
          <p:cNvPr id="1027" name="Rectangle 2"/>
          <p:cNvSpPr>
            <a:spLocks noGrp="1"/>
          </p:cNvSpPr>
          <p:nvPr>
            <p:ph type="body" idx="1"/>
          </p:nvPr>
        </p:nvSpPr>
        <p:spPr bwMode="auto">
          <a:xfrm>
            <a:off x="457200" y="1600200"/>
            <a:ext cx="8229600" cy="5257800"/>
          </a:xfrm>
          <a:prstGeom prst="rect">
            <a:avLst/>
          </a:prstGeom>
          <a:noFill/>
          <a:ln w="12700">
            <a:noFill/>
            <a:miter lim="400000"/>
            <a:headEnd/>
            <a:tailEnd/>
          </a:ln>
        </p:spPr>
        <p:txBody>
          <a:bodyPr vert="horz" wrap="square" lIns="45720" tIns="45720" rIns="45720" bIns="45720" numCol="1" anchor="t" anchorCtr="0" compatLnSpc="1">
            <a:prstTxWarp prst="textNoShape">
              <a:avLst/>
            </a:prstTxWarp>
          </a:bodyPr>
          <a:lstStyle/>
          <a:p>
            <a:pPr lvl="0"/>
            <a:r>
              <a:rPr lang="tr-TR">
                <a:sym typeface="Calibri" pitchFamily="34" charset="0"/>
              </a:rPr>
              <a:t>Click to edit Master text styles</a:t>
            </a:r>
          </a:p>
          <a:p>
            <a:pPr lvl="1"/>
            <a:r>
              <a:rPr lang="tr-TR">
                <a:sym typeface="Calibri" pitchFamily="34" charset="0"/>
              </a:rPr>
              <a:t>Second level</a:t>
            </a:r>
          </a:p>
          <a:p>
            <a:pPr lvl="2"/>
            <a:r>
              <a:rPr lang="tr-TR">
                <a:sym typeface="Calibri" pitchFamily="34" charset="0"/>
              </a:rPr>
              <a:t>Third level</a:t>
            </a:r>
          </a:p>
          <a:p>
            <a:pPr lvl="3"/>
            <a:r>
              <a:rPr lang="tr-TR">
                <a:sym typeface="Calibri" pitchFamily="34" charset="0"/>
              </a:rPr>
              <a:t>Fourth level</a:t>
            </a:r>
          </a:p>
          <a:p>
            <a:pPr lvl="4"/>
            <a:r>
              <a:rPr lang="tr-TR">
                <a:sym typeface="Calibri" pitchFamily="34" charset="0"/>
              </a:rPr>
              <a:t>Fifth level</a:t>
            </a:r>
          </a:p>
        </p:txBody>
      </p:sp>
      <p:sp>
        <p:nvSpPr>
          <p:cNvPr id="2" name="Rectangle 3"/>
          <p:cNvSpPr>
            <a:spLocks noGrp="1"/>
          </p:cNvSpPr>
          <p:nvPr>
            <p:ph type="sldNum" sz="quarter" idx="2"/>
          </p:nvPr>
        </p:nvSpPr>
        <p:spPr bwMode="auto">
          <a:xfrm>
            <a:off x="6553200" y="6403975"/>
            <a:ext cx="2133600" cy="268288"/>
          </a:xfrm>
          <a:prstGeom prst="rect">
            <a:avLst/>
          </a:prstGeom>
          <a:noFill/>
          <a:ln w="12700" cap="flat" cmpd="sng">
            <a:noFill/>
            <a:prstDash val="solid"/>
            <a:miter lim="400000"/>
            <a:headEnd type="none" w="med" len="med"/>
            <a:tailEnd type="none" w="med" len="med"/>
          </a:ln>
          <a:effectLst/>
        </p:spPr>
        <p:txBody>
          <a:bodyPr vert="horz" wrap="square" lIns="45720" tIns="45720" rIns="45720" bIns="45720" numCol="1" anchor="ctr" anchorCtr="0" compatLnSpc="1">
            <a:prstTxWarp prst="textNoShape">
              <a:avLst/>
            </a:prstTxWarp>
          </a:bodyPr>
          <a:lstStyle>
            <a:lvl1pPr algn="r">
              <a:defRPr sz="1200">
                <a:solidFill>
                  <a:srgbClr val="888888"/>
                </a:solidFill>
              </a:defRPr>
            </a:lvl1pPr>
          </a:lstStyle>
          <a:p>
            <a:pPr>
              <a:defRPr/>
            </a:pPr>
            <a:fld id="{A8F4F58F-616E-4B1D-B6C5-5131A32D0FFE}"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sh dir="r"/>
  </p:transition>
  <p:txStyles>
    <p:titleStyle>
      <a:lvl1pPr algn="ctr" rtl="0" eaLnBrk="0" fontAlgn="base" hangingPunct="0">
        <a:spcBef>
          <a:spcPct val="0"/>
        </a:spcBef>
        <a:spcAft>
          <a:spcPct val="0"/>
        </a:spcAft>
        <a:defRPr sz="4400">
          <a:solidFill>
            <a:srgbClr val="000000"/>
          </a:solidFill>
          <a:latin typeface="+mj-lt"/>
          <a:ea typeface="+mj-ea"/>
          <a:cs typeface="+mj-cs"/>
          <a:sym typeface="Calibri" pitchFamily="34" charset="0"/>
        </a:defRPr>
      </a:lvl1pPr>
      <a:lvl2pPr algn="ctr" rtl="0" eaLnBrk="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2pPr>
      <a:lvl3pPr algn="ctr" rtl="0" eaLnBrk="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3pPr>
      <a:lvl4pPr algn="ctr" rtl="0" eaLnBrk="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4pPr>
      <a:lvl5pPr algn="ctr" rtl="0" eaLnBrk="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5pPr>
      <a:lvl6pPr marL="457200" algn="ctr" rtl="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6pPr>
      <a:lvl7pPr marL="914400" algn="ctr" rtl="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7pPr>
      <a:lvl8pPr marL="1371600" algn="ctr" rtl="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8pPr>
      <a:lvl9pPr marL="1828800" algn="ctr" rtl="0" fontAlgn="base" hangingPunct="0">
        <a:spcBef>
          <a:spcPct val="0"/>
        </a:spcBef>
        <a:spcAft>
          <a:spcPct val="0"/>
        </a:spcAft>
        <a:defRPr sz="4400">
          <a:solidFill>
            <a:srgbClr val="000000"/>
          </a:solidFill>
          <a:latin typeface="Calibri" pitchFamily="34" charset="0"/>
          <a:ea typeface="Calibri" pitchFamily="34" charset="0"/>
          <a:cs typeface="Calibri" pitchFamily="34" charset="0"/>
          <a:sym typeface="Calibri" pitchFamily="34" charset="0"/>
        </a:defRPr>
      </a:lvl9pPr>
    </p:titleStyle>
    <p:bodyStyle>
      <a:lvl1pPr marL="342900" indent="-342900" algn="l" rtl="0" eaLnBrk="0" fontAlgn="base" hangingPunct="0">
        <a:spcBef>
          <a:spcPts val="700"/>
        </a:spcBef>
        <a:spcAft>
          <a:spcPct val="0"/>
        </a:spcAft>
        <a:buSzPct val="100000"/>
        <a:buFont typeface="Arial" charset="0"/>
        <a:buChar char="•"/>
        <a:defRPr sz="3200">
          <a:solidFill>
            <a:srgbClr val="000000"/>
          </a:solidFill>
          <a:latin typeface="+mn-lt"/>
          <a:ea typeface="+mn-ea"/>
          <a:cs typeface="+mn-cs"/>
          <a:sym typeface="Calibri" pitchFamily="34" charset="0"/>
        </a:defRPr>
      </a:lvl1pPr>
      <a:lvl2pPr marL="782638" indent="-325438" algn="l" rtl="0" eaLnBrk="0" fontAlgn="base" hangingPunct="0">
        <a:spcBef>
          <a:spcPts val="700"/>
        </a:spcBef>
        <a:spcAft>
          <a:spcPct val="0"/>
        </a:spcAft>
        <a:buSzPct val="100000"/>
        <a:buFont typeface="Arial" charset="0"/>
        <a:buChar char="–"/>
        <a:defRPr sz="3200">
          <a:solidFill>
            <a:srgbClr val="000000"/>
          </a:solidFill>
          <a:latin typeface="+mn-lt"/>
          <a:ea typeface="+mn-ea"/>
          <a:cs typeface="+mn-cs"/>
          <a:sym typeface="Calibri" pitchFamily="34" charset="0"/>
        </a:defRPr>
      </a:lvl2pPr>
      <a:lvl3pPr marL="1219200" indent="-304800" algn="l" rtl="0" eaLnBrk="0" fontAlgn="base" hangingPunct="0">
        <a:spcBef>
          <a:spcPts val="700"/>
        </a:spcBef>
        <a:spcAft>
          <a:spcPct val="0"/>
        </a:spcAft>
        <a:buSzPct val="100000"/>
        <a:buFont typeface="Arial" charset="0"/>
        <a:buChar char="•"/>
        <a:defRPr sz="3200">
          <a:solidFill>
            <a:srgbClr val="000000"/>
          </a:solidFill>
          <a:latin typeface="+mn-lt"/>
          <a:ea typeface="+mn-ea"/>
          <a:cs typeface="+mn-cs"/>
          <a:sym typeface="Calibri" pitchFamily="34" charset="0"/>
        </a:defRPr>
      </a:lvl3pPr>
      <a:lvl4pPr marL="1736725" indent="-365125" algn="l" rtl="0" eaLnBrk="0" fontAlgn="base" hangingPunct="0">
        <a:spcBef>
          <a:spcPts val="700"/>
        </a:spcBef>
        <a:spcAft>
          <a:spcPct val="0"/>
        </a:spcAft>
        <a:buSzPct val="100000"/>
        <a:buFont typeface="Arial" charset="0"/>
        <a:buChar char="–"/>
        <a:defRPr sz="3200">
          <a:solidFill>
            <a:srgbClr val="000000"/>
          </a:solidFill>
          <a:latin typeface="+mn-lt"/>
          <a:ea typeface="+mn-ea"/>
          <a:cs typeface="+mn-cs"/>
          <a:sym typeface="Calibri" pitchFamily="34" charset="0"/>
        </a:defRPr>
      </a:lvl4pPr>
      <a:lvl5pPr marL="2193925" indent="-365125" algn="l" rtl="0" eaLnBrk="0" fontAlgn="base" hangingPunct="0">
        <a:spcBef>
          <a:spcPts val="700"/>
        </a:spcBef>
        <a:spcAft>
          <a:spcPct val="0"/>
        </a:spcAft>
        <a:buSzPct val="100000"/>
        <a:buFont typeface="Arial" charset="0"/>
        <a:buChar char="»"/>
        <a:defRPr sz="3200">
          <a:solidFill>
            <a:srgbClr val="000000"/>
          </a:solidFill>
          <a:latin typeface="+mn-lt"/>
          <a:ea typeface="+mn-ea"/>
          <a:cs typeface="+mn-cs"/>
          <a:sym typeface="Calibri" pitchFamily="34" charset="0"/>
        </a:defRPr>
      </a:lvl5pPr>
      <a:lvl6pPr marL="2651125" indent="-365125" algn="l" rtl="0" fontAlgn="base" hangingPunct="0">
        <a:spcBef>
          <a:spcPts val="700"/>
        </a:spcBef>
        <a:spcAft>
          <a:spcPct val="0"/>
        </a:spcAft>
        <a:buSzPct val="100000"/>
        <a:buFont typeface="Arial" pitchFamily="34" charset="0"/>
        <a:buChar char="»"/>
        <a:defRPr sz="3200">
          <a:solidFill>
            <a:srgbClr val="000000"/>
          </a:solidFill>
          <a:latin typeface="+mn-lt"/>
          <a:ea typeface="+mn-ea"/>
          <a:cs typeface="+mn-cs"/>
          <a:sym typeface="Calibri" pitchFamily="34" charset="0"/>
        </a:defRPr>
      </a:lvl6pPr>
      <a:lvl7pPr marL="3108325" indent="-365125" algn="l" rtl="0" fontAlgn="base" hangingPunct="0">
        <a:spcBef>
          <a:spcPts val="700"/>
        </a:spcBef>
        <a:spcAft>
          <a:spcPct val="0"/>
        </a:spcAft>
        <a:buSzPct val="100000"/>
        <a:buFont typeface="Arial" pitchFamily="34" charset="0"/>
        <a:buChar char="»"/>
        <a:defRPr sz="3200">
          <a:solidFill>
            <a:srgbClr val="000000"/>
          </a:solidFill>
          <a:latin typeface="+mn-lt"/>
          <a:ea typeface="+mn-ea"/>
          <a:cs typeface="+mn-cs"/>
          <a:sym typeface="Calibri" pitchFamily="34" charset="0"/>
        </a:defRPr>
      </a:lvl7pPr>
      <a:lvl8pPr marL="3565525" indent="-365125" algn="l" rtl="0" fontAlgn="base" hangingPunct="0">
        <a:spcBef>
          <a:spcPts val="700"/>
        </a:spcBef>
        <a:spcAft>
          <a:spcPct val="0"/>
        </a:spcAft>
        <a:buSzPct val="100000"/>
        <a:buFont typeface="Arial" pitchFamily="34" charset="0"/>
        <a:buChar char="»"/>
        <a:defRPr sz="3200">
          <a:solidFill>
            <a:srgbClr val="000000"/>
          </a:solidFill>
          <a:latin typeface="+mn-lt"/>
          <a:ea typeface="+mn-ea"/>
          <a:cs typeface="+mn-cs"/>
          <a:sym typeface="Calibri" pitchFamily="34" charset="0"/>
        </a:defRPr>
      </a:lvl8pPr>
      <a:lvl9pPr marL="4022725" indent="-365125" algn="l" rtl="0" fontAlgn="base" hangingPunct="0">
        <a:spcBef>
          <a:spcPts val="700"/>
        </a:spcBef>
        <a:spcAft>
          <a:spcPct val="0"/>
        </a:spcAft>
        <a:buSzPct val="100000"/>
        <a:buFont typeface="Arial" pitchFamily="34" charset="0"/>
        <a:buChar char="»"/>
        <a:defRPr sz="3200">
          <a:solidFill>
            <a:srgbClr val="000000"/>
          </a:solidFill>
          <a:latin typeface="+mn-lt"/>
          <a:ea typeface="+mn-ea"/>
          <a:cs typeface="+mn-cs"/>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duranli@ciu.edu.t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p:cNvSpPr>
          <p:nvPr/>
        </p:nvSpPr>
        <p:spPr bwMode="auto">
          <a:xfrm>
            <a:off x="2374900" y="4389438"/>
            <a:ext cx="4392613" cy="1631216"/>
          </a:xfrm>
          <a:prstGeom prst="rect">
            <a:avLst/>
          </a:prstGeom>
          <a:noFill/>
          <a:ln w="12700">
            <a:noFill/>
            <a:miter lim="400000"/>
            <a:headEnd/>
            <a:tailEnd/>
          </a:ln>
        </p:spPr>
        <p:txBody>
          <a:bodyPr lIns="45720" rIns="45720">
            <a:spAutoFit/>
          </a:bodyPr>
          <a:lstStyle/>
          <a:p>
            <a:pPr algn="ctr"/>
            <a:r>
              <a:rPr lang="tr-TR" sz="2800" b="1" dirty="0"/>
              <a:t>LEVENT DURANLI</a:t>
            </a:r>
          </a:p>
          <a:p>
            <a:pPr algn="ctr"/>
            <a:r>
              <a:rPr lang="tr-TR" dirty="0"/>
              <a:t>Senior Instructor</a:t>
            </a:r>
          </a:p>
          <a:p>
            <a:pPr algn="ctr"/>
            <a:endParaRPr lang="tr-TR" dirty="0"/>
          </a:p>
          <a:p>
            <a:pPr algn="ctr"/>
            <a:r>
              <a:rPr lang="tr-TR">
                <a:hlinkClick r:id="rId2"/>
              </a:rPr>
              <a:t>lduranli@ciu.edu.tr</a:t>
            </a:r>
            <a:endParaRPr lang="tr-TR"/>
          </a:p>
          <a:p>
            <a:pPr algn="ctr"/>
            <a:endParaRPr lang="tr-TR" dirty="0"/>
          </a:p>
        </p:txBody>
      </p:sp>
      <p:sp>
        <p:nvSpPr>
          <p:cNvPr id="2051" name="Rectangle 2"/>
          <p:cNvSpPr>
            <a:spLocks/>
          </p:cNvSpPr>
          <p:nvPr/>
        </p:nvSpPr>
        <p:spPr bwMode="auto">
          <a:xfrm>
            <a:off x="971600" y="1916832"/>
            <a:ext cx="7200800" cy="584775"/>
          </a:xfrm>
          <a:prstGeom prst="rect">
            <a:avLst/>
          </a:prstGeom>
          <a:noFill/>
          <a:ln w="12700">
            <a:noFill/>
            <a:miter lim="400000"/>
            <a:headEnd/>
            <a:tailEnd/>
          </a:ln>
        </p:spPr>
        <p:txBody>
          <a:bodyPr wrap="square" lIns="45720" rIns="45720">
            <a:spAutoFit/>
          </a:bodyPr>
          <a:lstStyle/>
          <a:p>
            <a:pPr algn="ctr"/>
            <a:r>
              <a:rPr lang="en-US" sz="3200" b="1" dirty="0"/>
              <a:t>How to Write a Screenplay</a:t>
            </a:r>
            <a:endParaRPr lang="tr-TR" sz="3200" b="1" dirty="0"/>
          </a:p>
        </p:txBody>
      </p:sp>
    </p:spTree>
  </p:cSld>
  <p:clrMapOvr>
    <a:masterClrMapping/>
  </p:clrMapOvr>
  <p:transition spd="med">
    <p:push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4" name="TextBox 3">
            <a:extLst>
              <a:ext uri="{FF2B5EF4-FFF2-40B4-BE49-F238E27FC236}">
                <a16:creationId xmlns:a16="http://schemas.microsoft.com/office/drawing/2014/main" id="{CFCCDBF9-BCB3-B0E2-1BB5-7C8D403F2A72}"/>
              </a:ext>
            </a:extLst>
          </p:cNvPr>
          <p:cNvSpPr txBox="1"/>
          <p:nvPr/>
        </p:nvSpPr>
        <p:spPr>
          <a:xfrm>
            <a:off x="323528" y="3140968"/>
            <a:ext cx="7848922" cy="1200329"/>
          </a:xfrm>
          <a:prstGeom prst="rect">
            <a:avLst/>
          </a:prstGeom>
          <a:noFill/>
        </p:spPr>
        <p:txBody>
          <a:bodyPr wrap="square">
            <a:spAutoFit/>
          </a:bodyPr>
          <a:lstStyle/>
          <a:p>
            <a:r>
              <a:rPr lang="LID4096" dirty="0"/>
              <a:t>A movie script or screenplay is the </a:t>
            </a:r>
            <a:r>
              <a:rPr lang="tr-TR" dirty="0"/>
              <a:t>printed version</a:t>
            </a:r>
            <a:r>
              <a:rPr lang="LID4096" dirty="0"/>
              <a:t> for any feature film</a:t>
            </a:r>
            <a:r>
              <a:rPr lang="tr-TR" dirty="0"/>
              <a:t> or </a:t>
            </a:r>
            <a:r>
              <a:rPr lang="LID4096" dirty="0"/>
              <a:t>TV show.</a:t>
            </a:r>
            <a:endParaRPr lang="tr-TR" dirty="0"/>
          </a:p>
          <a:p>
            <a:endParaRPr lang="tr-TR" dirty="0"/>
          </a:p>
          <a:p>
            <a:r>
              <a:rPr lang="LID4096" dirty="0"/>
              <a:t>Scripts includes characters actions, dialogue and movement as well as stage direction.</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971600" y="1916832"/>
            <a:ext cx="7200800" cy="584775"/>
          </a:xfrm>
          <a:prstGeom prst="rect">
            <a:avLst/>
          </a:prstGeom>
          <a:noFill/>
          <a:ln w="12700">
            <a:noFill/>
            <a:miter lim="400000"/>
            <a:headEnd/>
            <a:tailEnd/>
          </a:ln>
        </p:spPr>
        <p:txBody>
          <a:bodyPr wrap="square" lIns="45720" rIns="45720">
            <a:spAutoFit/>
          </a:bodyPr>
          <a:lstStyle/>
          <a:p>
            <a:pPr algn="ctr"/>
            <a:r>
              <a:rPr lang="tr-TR" sz="3200" b="1" dirty="0"/>
              <a:t>What is a </a:t>
            </a:r>
            <a:r>
              <a:rPr lang="en-US" sz="3200" b="1" dirty="0"/>
              <a:t>Screenplay</a:t>
            </a:r>
            <a:r>
              <a:rPr lang="tr-TR" sz="3200" b="1" dirty="0"/>
              <a:t>?</a:t>
            </a:r>
          </a:p>
        </p:txBody>
      </p:sp>
    </p:spTree>
    <p:extLst>
      <p:ext uri="{BB962C8B-B14F-4D97-AF65-F5344CB8AC3E}">
        <p14:creationId xmlns:p14="http://schemas.microsoft.com/office/powerpoint/2010/main" val="2244075906"/>
      </p:ext>
    </p:extLst>
  </p:cSld>
  <p:clrMapOvr>
    <a:masterClrMapping/>
  </p:clrMapOvr>
  <p:transition spd="med">
    <p:push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1916832"/>
            <a:ext cx="8424936" cy="584775"/>
          </a:xfrm>
          <a:prstGeom prst="rect">
            <a:avLst/>
          </a:prstGeom>
          <a:noFill/>
          <a:ln w="12700">
            <a:noFill/>
            <a:miter lim="400000"/>
            <a:headEnd/>
            <a:tailEnd/>
          </a:ln>
        </p:spPr>
        <p:txBody>
          <a:bodyPr wrap="square" lIns="45720" rIns="45720">
            <a:spAutoFit/>
          </a:bodyPr>
          <a:lstStyle/>
          <a:p>
            <a:pPr algn="ctr"/>
            <a:r>
              <a:rPr lang="tr-TR" sz="3200" b="1" dirty="0"/>
              <a:t>Script &amp; Shooting Script</a:t>
            </a:r>
          </a:p>
        </p:txBody>
      </p:sp>
      <p:sp>
        <p:nvSpPr>
          <p:cNvPr id="7" name="TextBox 6">
            <a:extLst>
              <a:ext uri="{FF2B5EF4-FFF2-40B4-BE49-F238E27FC236}">
                <a16:creationId xmlns:a16="http://schemas.microsoft.com/office/drawing/2014/main" id="{3C408C91-4F01-1D8B-CEFF-D94AF2A9B17C}"/>
              </a:ext>
            </a:extLst>
          </p:cNvPr>
          <p:cNvSpPr txBox="1"/>
          <p:nvPr/>
        </p:nvSpPr>
        <p:spPr>
          <a:xfrm>
            <a:off x="519137" y="2996952"/>
            <a:ext cx="7745685" cy="1754326"/>
          </a:xfrm>
          <a:prstGeom prst="rect">
            <a:avLst/>
          </a:prstGeom>
          <a:noFill/>
        </p:spPr>
        <p:txBody>
          <a:bodyPr wrap="square">
            <a:spAutoFit/>
          </a:bodyPr>
          <a:lstStyle/>
          <a:p>
            <a:r>
              <a:rPr lang="en-US" dirty="0"/>
              <a:t>Movie script format has a unique set of industry standard rules, which are slightly different than the script writing format used in a shooting script.</a:t>
            </a:r>
            <a:endParaRPr lang="tr-TR" dirty="0"/>
          </a:p>
          <a:p>
            <a:endParaRPr lang="tr-TR" dirty="0"/>
          </a:p>
          <a:p>
            <a:r>
              <a:rPr lang="en-US" dirty="0"/>
              <a:t>A shooting script is a more precisely formatted version of the script, used in Pre-Production and Production to turn the screenplay into a film. This version can include elements like camera directions, music cues or transitions.</a:t>
            </a:r>
            <a:endParaRPr lang="LID4096" dirty="0"/>
          </a:p>
        </p:txBody>
      </p:sp>
    </p:spTree>
    <p:extLst>
      <p:ext uri="{BB962C8B-B14F-4D97-AF65-F5344CB8AC3E}">
        <p14:creationId xmlns:p14="http://schemas.microsoft.com/office/powerpoint/2010/main" val="3132476503"/>
      </p:ext>
    </p:extLst>
  </p:cSld>
  <p:clrMapOvr>
    <a:masterClrMapping/>
  </p:clrMapOvr>
  <p:transition spd="med">
    <p:push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1916832"/>
            <a:ext cx="8424936" cy="584775"/>
          </a:xfrm>
          <a:prstGeom prst="rect">
            <a:avLst/>
          </a:prstGeom>
          <a:noFill/>
          <a:ln w="12700">
            <a:noFill/>
            <a:miter lim="400000"/>
            <a:headEnd/>
            <a:tailEnd/>
          </a:ln>
        </p:spPr>
        <p:txBody>
          <a:bodyPr wrap="square" lIns="45720" rIns="45720">
            <a:spAutoFit/>
          </a:bodyPr>
          <a:lstStyle/>
          <a:p>
            <a:pPr algn="ctr"/>
            <a:r>
              <a:rPr lang="tr-TR" sz="3200" b="1" dirty="0"/>
              <a:t>How is Important the Format of the </a:t>
            </a:r>
            <a:r>
              <a:rPr lang="en-US" sz="3200" b="1" dirty="0"/>
              <a:t>Screenplay</a:t>
            </a:r>
            <a:r>
              <a:rPr lang="tr-TR" sz="3200" b="1" dirty="0"/>
              <a:t>?</a:t>
            </a:r>
          </a:p>
        </p:txBody>
      </p:sp>
      <p:sp>
        <p:nvSpPr>
          <p:cNvPr id="7" name="TextBox 6">
            <a:extLst>
              <a:ext uri="{FF2B5EF4-FFF2-40B4-BE49-F238E27FC236}">
                <a16:creationId xmlns:a16="http://schemas.microsoft.com/office/drawing/2014/main" id="{3C408C91-4F01-1D8B-CEFF-D94AF2A9B17C}"/>
              </a:ext>
            </a:extLst>
          </p:cNvPr>
          <p:cNvSpPr txBox="1"/>
          <p:nvPr/>
        </p:nvSpPr>
        <p:spPr>
          <a:xfrm>
            <a:off x="519137" y="2996952"/>
            <a:ext cx="7745685" cy="2031325"/>
          </a:xfrm>
          <a:prstGeom prst="rect">
            <a:avLst/>
          </a:prstGeom>
          <a:noFill/>
        </p:spPr>
        <p:txBody>
          <a:bodyPr wrap="square">
            <a:spAutoFit/>
          </a:bodyPr>
          <a:lstStyle/>
          <a:p>
            <a:r>
              <a:rPr lang="LID4096" dirty="0"/>
              <a:t>There are basic formatting rules for screenplays that are essential to learn if you hope to get your screenplay produced. It doesn't matter if you have an amazing story, a script that isn't formatted properly immediately jumps out as "unprofessional" to readers, producers, actors, and anyone that is accustomed to reading scripts as part of their profession. Getting a screenplay produced is tough enough without putting yourself at a disadvantage with an incorrectly formatted screenplay.</a:t>
            </a:r>
          </a:p>
        </p:txBody>
      </p:sp>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pic>
        <p:nvPicPr>
          <p:cNvPr id="3" name="Picture 2">
            <a:extLst>
              <a:ext uri="{FF2B5EF4-FFF2-40B4-BE49-F238E27FC236}">
                <a16:creationId xmlns:a16="http://schemas.microsoft.com/office/drawing/2014/main" id="{9458E7A9-D9B4-5A0C-6472-13D52F61E5C8}"/>
              </a:ext>
            </a:extLst>
          </p:cNvPr>
          <p:cNvPicPr>
            <a:picLocks noChangeAspect="1"/>
          </p:cNvPicPr>
          <p:nvPr/>
        </p:nvPicPr>
        <p:blipFill>
          <a:blip r:embed="rId2"/>
          <a:stretch>
            <a:fillRect/>
          </a:stretch>
        </p:blipFill>
        <p:spPr>
          <a:xfrm>
            <a:off x="113678" y="1556792"/>
            <a:ext cx="8916644" cy="4801270"/>
          </a:xfrm>
          <a:prstGeom prst="rect">
            <a:avLst/>
          </a:prstGeom>
        </p:spPr>
      </p:pic>
    </p:spTree>
    <p:extLst>
      <p:ext uri="{BB962C8B-B14F-4D97-AF65-F5344CB8AC3E}">
        <p14:creationId xmlns:p14="http://schemas.microsoft.com/office/powerpoint/2010/main" val="3714467864"/>
      </p:ext>
    </p:extLst>
  </p:cSld>
  <p:clrMapOvr>
    <a:masterClrMapping/>
  </p:clrMapOvr>
  <p:transition spd="med">
    <p:push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4" name="TextBox 3">
            <a:extLst>
              <a:ext uri="{FF2B5EF4-FFF2-40B4-BE49-F238E27FC236}">
                <a16:creationId xmlns:a16="http://schemas.microsoft.com/office/drawing/2014/main" id="{5AEECA36-DD8E-44CA-A10D-E897A9BAE345}"/>
              </a:ext>
            </a:extLst>
          </p:cNvPr>
          <p:cNvSpPr txBox="1"/>
          <p:nvPr/>
        </p:nvSpPr>
        <p:spPr>
          <a:xfrm>
            <a:off x="323528" y="1949177"/>
            <a:ext cx="8280920" cy="646331"/>
          </a:xfrm>
          <a:prstGeom prst="rect">
            <a:avLst/>
          </a:prstGeom>
          <a:noFill/>
        </p:spPr>
        <p:txBody>
          <a:bodyPr wrap="square">
            <a:spAutoFit/>
          </a:bodyPr>
          <a:lstStyle/>
          <a:p>
            <a:r>
              <a:rPr lang="LID4096" dirty="0"/>
              <a:t>Sluglines (also known as scene headings) tell the reader where the action is happening. It’s a location, followed by a time, and looks something like this. </a:t>
            </a:r>
          </a:p>
        </p:txBody>
      </p:sp>
      <p:pic>
        <p:nvPicPr>
          <p:cNvPr id="7" name="Picture 6">
            <a:extLst>
              <a:ext uri="{FF2B5EF4-FFF2-40B4-BE49-F238E27FC236}">
                <a16:creationId xmlns:a16="http://schemas.microsoft.com/office/drawing/2014/main" id="{7E577B8E-823C-75CC-322F-AE4BD07BE189}"/>
              </a:ext>
            </a:extLst>
          </p:cNvPr>
          <p:cNvPicPr>
            <a:picLocks noChangeAspect="1"/>
          </p:cNvPicPr>
          <p:nvPr/>
        </p:nvPicPr>
        <p:blipFill>
          <a:blip r:embed="rId2"/>
          <a:stretch>
            <a:fillRect/>
          </a:stretch>
        </p:blipFill>
        <p:spPr>
          <a:xfrm>
            <a:off x="899592" y="2636912"/>
            <a:ext cx="6784014" cy="4068737"/>
          </a:xfrm>
          <a:prstGeom prst="rect">
            <a:avLst/>
          </a:prstGeom>
        </p:spPr>
      </p:pic>
      <p:sp>
        <p:nvSpPr>
          <p:cNvPr id="9" name="TextBox 8">
            <a:extLst>
              <a:ext uri="{FF2B5EF4-FFF2-40B4-BE49-F238E27FC236}">
                <a16:creationId xmlns:a16="http://schemas.microsoft.com/office/drawing/2014/main" id="{EF3C11BC-904C-4965-2CF3-FBB5716A7426}"/>
              </a:ext>
            </a:extLst>
          </p:cNvPr>
          <p:cNvSpPr txBox="1"/>
          <p:nvPr/>
        </p:nvSpPr>
        <p:spPr>
          <a:xfrm>
            <a:off x="323528" y="1579845"/>
            <a:ext cx="4581524" cy="369332"/>
          </a:xfrm>
          <a:prstGeom prst="rect">
            <a:avLst/>
          </a:prstGeom>
          <a:noFill/>
        </p:spPr>
        <p:txBody>
          <a:bodyPr wrap="square">
            <a:spAutoFit/>
          </a:bodyPr>
          <a:lstStyle/>
          <a:p>
            <a:r>
              <a:rPr lang="LID4096" b="1" dirty="0"/>
              <a:t>Sluglines</a:t>
            </a:r>
          </a:p>
        </p:txBody>
      </p:sp>
    </p:spTree>
    <p:extLst>
      <p:ext uri="{BB962C8B-B14F-4D97-AF65-F5344CB8AC3E}">
        <p14:creationId xmlns:p14="http://schemas.microsoft.com/office/powerpoint/2010/main" val="2714977716"/>
      </p:ext>
    </p:extLst>
  </p:cSld>
  <p:clrMapOvr>
    <a:masterClrMapping/>
  </p:clrMapOvr>
  <p:transition spd="med">
    <p:push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pic>
        <p:nvPicPr>
          <p:cNvPr id="7" name="Picture 6">
            <a:extLst>
              <a:ext uri="{FF2B5EF4-FFF2-40B4-BE49-F238E27FC236}">
                <a16:creationId xmlns:a16="http://schemas.microsoft.com/office/drawing/2014/main" id="{7E577B8E-823C-75CC-322F-AE4BD07BE189}"/>
              </a:ext>
            </a:extLst>
          </p:cNvPr>
          <p:cNvPicPr>
            <a:picLocks noChangeAspect="1"/>
          </p:cNvPicPr>
          <p:nvPr/>
        </p:nvPicPr>
        <p:blipFill>
          <a:blip r:embed="rId2"/>
          <a:stretch>
            <a:fillRect/>
          </a:stretch>
        </p:blipFill>
        <p:spPr>
          <a:xfrm>
            <a:off x="1979712" y="1639074"/>
            <a:ext cx="4790311" cy="2873006"/>
          </a:xfrm>
          <a:prstGeom prst="rect">
            <a:avLst/>
          </a:prstGeom>
        </p:spPr>
      </p:pic>
      <p:sp>
        <p:nvSpPr>
          <p:cNvPr id="3" name="TextBox 2">
            <a:extLst>
              <a:ext uri="{FF2B5EF4-FFF2-40B4-BE49-F238E27FC236}">
                <a16:creationId xmlns:a16="http://schemas.microsoft.com/office/drawing/2014/main" id="{696FB852-A5ED-5C58-068D-7D35018D8C16}"/>
              </a:ext>
            </a:extLst>
          </p:cNvPr>
          <p:cNvSpPr txBox="1"/>
          <p:nvPr/>
        </p:nvSpPr>
        <p:spPr>
          <a:xfrm>
            <a:off x="611560" y="4729667"/>
            <a:ext cx="8208912" cy="1754326"/>
          </a:xfrm>
          <a:prstGeom prst="rect">
            <a:avLst/>
          </a:prstGeom>
          <a:noFill/>
        </p:spPr>
        <p:txBody>
          <a:bodyPr wrap="square">
            <a:spAutoFit/>
          </a:bodyPr>
          <a:lstStyle/>
          <a:p>
            <a:r>
              <a:rPr lang="LID4096" dirty="0"/>
              <a:t>In this screenplay example, you'll see that Scene 1 starts in Mort's Kitchen but what does INT mean in a script? When it comes to sluglines, you first have to establish whether the scene takes place inside (INT.) or outside (EXT.)</a:t>
            </a:r>
          </a:p>
          <a:p>
            <a:endParaRPr lang="LID4096" dirty="0"/>
          </a:p>
          <a:p>
            <a:r>
              <a:rPr lang="LID4096" dirty="0"/>
              <a:t>Then add the location of the scene, followed by the time of day (Day, Night, Morning, Evening, etc.).</a:t>
            </a:r>
          </a:p>
        </p:txBody>
      </p:sp>
      <p:sp>
        <p:nvSpPr>
          <p:cNvPr id="6" name="TextBox 5">
            <a:extLst>
              <a:ext uri="{FF2B5EF4-FFF2-40B4-BE49-F238E27FC236}">
                <a16:creationId xmlns:a16="http://schemas.microsoft.com/office/drawing/2014/main" id="{82218536-000E-341A-1881-9B1C88C6CF75}"/>
              </a:ext>
            </a:extLst>
          </p:cNvPr>
          <p:cNvSpPr txBox="1"/>
          <p:nvPr/>
        </p:nvSpPr>
        <p:spPr>
          <a:xfrm>
            <a:off x="440482" y="1916832"/>
            <a:ext cx="4581524" cy="369332"/>
          </a:xfrm>
          <a:prstGeom prst="rect">
            <a:avLst/>
          </a:prstGeom>
          <a:noFill/>
        </p:spPr>
        <p:txBody>
          <a:bodyPr wrap="square">
            <a:spAutoFit/>
          </a:bodyPr>
          <a:lstStyle/>
          <a:p>
            <a:r>
              <a:rPr lang="LID4096" b="1" dirty="0"/>
              <a:t>Sluglines</a:t>
            </a:r>
          </a:p>
        </p:txBody>
      </p:sp>
    </p:spTree>
    <p:extLst>
      <p:ext uri="{BB962C8B-B14F-4D97-AF65-F5344CB8AC3E}">
        <p14:creationId xmlns:p14="http://schemas.microsoft.com/office/powerpoint/2010/main" val="93281871"/>
      </p:ext>
    </p:extLst>
  </p:cSld>
  <p:clrMapOvr>
    <a:masterClrMapping/>
  </p:clrMapOvr>
  <p:transition spd="med">
    <p:push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pic>
        <p:nvPicPr>
          <p:cNvPr id="7" name="Picture 6">
            <a:extLst>
              <a:ext uri="{FF2B5EF4-FFF2-40B4-BE49-F238E27FC236}">
                <a16:creationId xmlns:a16="http://schemas.microsoft.com/office/drawing/2014/main" id="{7E577B8E-823C-75CC-322F-AE4BD07BE189}"/>
              </a:ext>
            </a:extLst>
          </p:cNvPr>
          <p:cNvPicPr>
            <a:picLocks noChangeAspect="1"/>
          </p:cNvPicPr>
          <p:nvPr/>
        </p:nvPicPr>
        <p:blipFill>
          <a:blip r:embed="rId2"/>
          <a:stretch>
            <a:fillRect/>
          </a:stretch>
        </p:blipFill>
        <p:spPr>
          <a:xfrm>
            <a:off x="1979712" y="1639074"/>
            <a:ext cx="4790311" cy="2873006"/>
          </a:xfrm>
          <a:prstGeom prst="rect">
            <a:avLst/>
          </a:prstGeom>
        </p:spPr>
      </p:pic>
      <p:sp>
        <p:nvSpPr>
          <p:cNvPr id="3" name="TextBox 2">
            <a:extLst>
              <a:ext uri="{FF2B5EF4-FFF2-40B4-BE49-F238E27FC236}">
                <a16:creationId xmlns:a16="http://schemas.microsoft.com/office/drawing/2014/main" id="{696FB852-A5ED-5C58-068D-7D35018D8C16}"/>
              </a:ext>
            </a:extLst>
          </p:cNvPr>
          <p:cNvSpPr txBox="1"/>
          <p:nvPr/>
        </p:nvSpPr>
        <p:spPr>
          <a:xfrm>
            <a:off x="611560" y="4729667"/>
            <a:ext cx="8208912" cy="1477328"/>
          </a:xfrm>
          <a:prstGeom prst="rect">
            <a:avLst/>
          </a:prstGeom>
          <a:noFill/>
        </p:spPr>
        <p:txBody>
          <a:bodyPr wrap="square">
            <a:spAutoFit/>
          </a:bodyPr>
          <a:lstStyle/>
          <a:p>
            <a:r>
              <a:rPr lang="LID4096" dirty="0"/>
              <a:t>When a scene directly continues from the previous scene, mark it “continuous” in the time slot.  If it's a couple minutes later, feel free to use "moments later" in your slugline. </a:t>
            </a:r>
          </a:p>
          <a:p>
            <a:endParaRPr lang="LID4096" dirty="0"/>
          </a:p>
          <a:p>
            <a:r>
              <a:rPr lang="tr-TR" dirty="0"/>
              <a:t>B</a:t>
            </a:r>
            <a:r>
              <a:rPr lang="LID4096" dirty="0"/>
              <a:t>e sure to put the entire slugline in ALL CAPS.</a:t>
            </a:r>
          </a:p>
        </p:txBody>
      </p:sp>
      <p:sp>
        <p:nvSpPr>
          <p:cNvPr id="2" name="TextBox 1">
            <a:extLst>
              <a:ext uri="{FF2B5EF4-FFF2-40B4-BE49-F238E27FC236}">
                <a16:creationId xmlns:a16="http://schemas.microsoft.com/office/drawing/2014/main" id="{286235D0-F8FC-5C53-3AFF-7D9EC35A259E}"/>
              </a:ext>
            </a:extLst>
          </p:cNvPr>
          <p:cNvSpPr txBox="1"/>
          <p:nvPr/>
        </p:nvSpPr>
        <p:spPr>
          <a:xfrm>
            <a:off x="467544" y="1639074"/>
            <a:ext cx="4581524" cy="369332"/>
          </a:xfrm>
          <a:prstGeom prst="rect">
            <a:avLst/>
          </a:prstGeom>
          <a:noFill/>
        </p:spPr>
        <p:txBody>
          <a:bodyPr wrap="square">
            <a:spAutoFit/>
          </a:bodyPr>
          <a:lstStyle/>
          <a:p>
            <a:r>
              <a:rPr lang="LID4096" b="1" dirty="0"/>
              <a:t>Sluglines</a:t>
            </a:r>
          </a:p>
        </p:txBody>
      </p:sp>
    </p:spTree>
    <p:extLst>
      <p:ext uri="{BB962C8B-B14F-4D97-AF65-F5344CB8AC3E}">
        <p14:creationId xmlns:p14="http://schemas.microsoft.com/office/powerpoint/2010/main" val="2093077493"/>
      </p:ext>
    </p:extLst>
  </p:cSld>
  <p:clrMapOvr>
    <a:masterClrMapping/>
  </p:clrMapOvr>
  <p:transition spd="med">
    <p:push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4" name="TextBox 3">
            <a:extLst>
              <a:ext uri="{FF2B5EF4-FFF2-40B4-BE49-F238E27FC236}">
                <a16:creationId xmlns:a16="http://schemas.microsoft.com/office/drawing/2014/main" id="{E5ECD732-B202-A959-6757-3FCF96A1EF8F}"/>
              </a:ext>
            </a:extLst>
          </p:cNvPr>
          <p:cNvSpPr txBox="1"/>
          <p:nvPr/>
        </p:nvSpPr>
        <p:spPr>
          <a:xfrm>
            <a:off x="440482" y="2636912"/>
            <a:ext cx="8136904" cy="2862322"/>
          </a:xfrm>
          <a:prstGeom prst="rect">
            <a:avLst/>
          </a:prstGeom>
          <a:noFill/>
        </p:spPr>
        <p:txBody>
          <a:bodyPr wrap="square">
            <a:spAutoFit/>
          </a:bodyPr>
          <a:lstStyle/>
          <a:p>
            <a:r>
              <a:rPr lang="LID4096" dirty="0"/>
              <a:t>Sluglines are important because they are how your assistant directors and line producers will plan out how things get shot. </a:t>
            </a:r>
          </a:p>
          <a:p>
            <a:endParaRPr lang="LID4096" dirty="0"/>
          </a:p>
          <a:p>
            <a:r>
              <a:rPr lang="LID4096" dirty="0"/>
              <a:t>The difference between one scene being night and the next being day is important to continuity for hair, makeup, and wardrobe departments. </a:t>
            </a:r>
          </a:p>
          <a:p>
            <a:endParaRPr lang="LID4096" dirty="0"/>
          </a:p>
          <a:p>
            <a:r>
              <a:rPr lang="LID4096" dirty="0"/>
              <a:t>That's why this is one of the most essential elements in movie script format — it tells you when and where a scene is taking place in the grand scheme of the script. Knowing the time of day and where the scene takes place affects nearly every department in a major way.</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916832"/>
            <a:ext cx="4581524" cy="369332"/>
          </a:xfrm>
          <a:prstGeom prst="rect">
            <a:avLst/>
          </a:prstGeom>
          <a:noFill/>
        </p:spPr>
        <p:txBody>
          <a:bodyPr wrap="square">
            <a:spAutoFit/>
          </a:bodyPr>
          <a:lstStyle/>
          <a:p>
            <a:r>
              <a:rPr lang="LID4096" b="1" dirty="0"/>
              <a:t>Sluglines</a:t>
            </a:r>
          </a:p>
        </p:txBody>
      </p:sp>
    </p:spTree>
    <p:extLst>
      <p:ext uri="{BB962C8B-B14F-4D97-AF65-F5344CB8AC3E}">
        <p14:creationId xmlns:p14="http://schemas.microsoft.com/office/powerpoint/2010/main" val="1522991220"/>
      </p:ext>
    </p:extLst>
  </p:cSld>
  <p:clrMapOvr>
    <a:masterClrMapping/>
  </p:clrMapOvr>
  <p:transition spd="med">
    <p:push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844824"/>
            <a:ext cx="4581524" cy="369332"/>
          </a:xfrm>
          <a:prstGeom prst="rect">
            <a:avLst/>
          </a:prstGeom>
          <a:noFill/>
        </p:spPr>
        <p:txBody>
          <a:bodyPr wrap="square">
            <a:spAutoFit/>
          </a:bodyPr>
          <a:lstStyle/>
          <a:p>
            <a:r>
              <a:rPr lang="tr-TR" b="1" dirty="0"/>
              <a:t>Action Lines </a:t>
            </a:r>
            <a:endParaRPr lang="LID4096" b="1" dirty="0"/>
          </a:p>
        </p:txBody>
      </p:sp>
      <p:sp>
        <p:nvSpPr>
          <p:cNvPr id="3" name="TextBox 2">
            <a:extLst>
              <a:ext uri="{FF2B5EF4-FFF2-40B4-BE49-F238E27FC236}">
                <a16:creationId xmlns:a16="http://schemas.microsoft.com/office/drawing/2014/main" id="{685ABB9D-F6F5-ADA3-6BE9-2BE750498F8D}"/>
              </a:ext>
            </a:extLst>
          </p:cNvPr>
          <p:cNvSpPr txBox="1"/>
          <p:nvPr/>
        </p:nvSpPr>
        <p:spPr>
          <a:xfrm>
            <a:off x="440482" y="2348880"/>
            <a:ext cx="8163966" cy="646331"/>
          </a:xfrm>
          <a:prstGeom prst="rect">
            <a:avLst/>
          </a:prstGeom>
          <a:noFill/>
        </p:spPr>
        <p:txBody>
          <a:bodyPr wrap="square">
            <a:spAutoFit/>
          </a:bodyPr>
          <a:lstStyle/>
          <a:p>
            <a:r>
              <a:rPr lang="tr-TR" dirty="0"/>
              <a:t>A</a:t>
            </a:r>
            <a:r>
              <a:rPr lang="LID4096" dirty="0"/>
              <a:t>ction lines go right beneath the slugline. Proper screenplay format dictates that they always be written in the present tense and as visually descriptive as possible.</a:t>
            </a:r>
          </a:p>
        </p:txBody>
      </p:sp>
      <p:pic>
        <p:nvPicPr>
          <p:cNvPr id="7" name="Picture 6">
            <a:extLst>
              <a:ext uri="{FF2B5EF4-FFF2-40B4-BE49-F238E27FC236}">
                <a16:creationId xmlns:a16="http://schemas.microsoft.com/office/drawing/2014/main" id="{01ECFF7A-DC2F-F232-3D1D-AA3480304A51}"/>
              </a:ext>
            </a:extLst>
          </p:cNvPr>
          <p:cNvPicPr>
            <a:picLocks noChangeAspect="1"/>
          </p:cNvPicPr>
          <p:nvPr/>
        </p:nvPicPr>
        <p:blipFill>
          <a:blip r:embed="rId2"/>
          <a:stretch>
            <a:fillRect/>
          </a:stretch>
        </p:blipFill>
        <p:spPr>
          <a:xfrm>
            <a:off x="1331640" y="3076809"/>
            <a:ext cx="5815693" cy="3695466"/>
          </a:xfrm>
          <a:prstGeom prst="rect">
            <a:avLst/>
          </a:prstGeom>
        </p:spPr>
      </p:pic>
    </p:spTree>
    <p:extLst>
      <p:ext uri="{BB962C8B-B14F-4D97-AF65-F5344CB8AC3E}">
        <p14:creationId xmlns:p14="http://schemas.microsoft.com/office/powerpoint/2010/main" val="3501862479"/>
      </p:ext>
    </p:extLst>
  </p:cSld>
  <p:clrMapOvr>
    <a:masterClrMapping/>
  </p:clrMapOvr>
  <p:transition spd="med">
    <p:push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844824"/>
            <a:ext cx="4581524" cy="369332"/>
          </a:xfrm>
          <a:prstGeom prst="rect">
            <a:avLst/>
          </a:prstGeom>
          <a:noFill/>
        </p:spPr>
        <p:txBody>
          <a:bodyPr wrap="square">
            <a:spAutoFit/>
          </a:bodyPr>
          <a:lstStyle/>
          <a:p>
            <a:r>
              <a:rPr lang="tr-TR" b="1" dirty="0"/>
              <a:t>Action Lines </a:t>
            </a:r>
            <a:endParaRPr lang="LID4096" b="1" dirty="0"/>
          </a:p>
        </p:txBody>
      </p:sp>
      <p:pic>
        <p:nvPicPr>
          <p:cNvPr id="7" name="Picture 6">
            <a:extLst>
              <a:ext uri="{FF2B5EF4-FFF2-40B4-BE49-F238E27FC236}">
                <a16:creationId xmlns:a16="http://schemas.microsoft.com/office/drawing/2014/main" id="{01ECFF7A-DC2F-F232-3D1D-AA3480304A51}"/>
              </a:ext>
            </a:extLst>
          </p:cNvPr>
          <p:cNvPicPr>
            <a:picLocks noChangeAspect="1"/>
          </p:cNvPicPr>
          <p:nvPr/>
        </p:nvPicPr>
        <p:blipFill>
          <a:blip r:embed="rId2"/>
          <a:stretch>
            <a:fillRect/>
          </a:stretch>
        </p:blipFill>
        <p:spPr>
          <a:xfrm>
            <a:off x="2051720" y="1979549"/>
            <a:ext cx="4192902" cy="2664296"/>
          </a:xfrm>
          <a:prstGeom prst="rect">
            <a:avLst/>
          </a:prstGeom>
        </p:spPr>
      </p:pic>
      <p:sp>
        <p:nvSpPr>
          <p:cNvPr id="4" name="TextBox 3">
            <a:extLst>
              <a:ext uri="{FF2B5EF4-FFF2-40B4-BE49-F238E27FC236}">
                <a16:creationId xmlns:a16="http://schemas.microsoft.com/office/drawing/2014/main" id="{7C3D6E20-6664-56EF-E4D7-D6F9D1CAB37F}"/>
              </a:ext>
            </a:extLst>
          </p:cNvPr>
          <p:cNvSpPr txBox="1"/>
          <p:nvPr/>
        </p:nvSpPr>
        <p:spPr>
          <a:xfrm>
            <a:off x="683568" y="4941168"/>
            <a:ext cx="7607869" cy="1754326"/>
          </a:xfrm>
          <a:prstGeom prst="rect">
            <a:avLst/>
          </a:prstGeom>
          <a:noFill/>
        </p:spPr>
        <p:txBody>
          <a:bodyPr wrap="square">
            <a:spAutoFit/>
          </a:bodyPr>
          <a:lstStyle/>
          <a:p>
            <a:r>
              <a:rPr lang="en-US" dirty="0"/>
              <a:t>This is where you create the images of the film in the reader's head. </a:t>
            </a:r>
            <a:r>
              <a:rPr lang="tr-TR" dirty="0"/>
              <a:t>A</a:t>
            </a:r>
            <a:r>
              <a:rPr lang="en-US" dirty="0" err="1"/>
              <a:t>ction</a:t>
            </a:r>
            <a:r>
              <a:rPr lang="en-US" dirty="0"/>
              <a:t> lines should only describe what an audience can see or hear. They should be short and concise, easy to visualize, and should move the characters, and plot forward. Action lines should always be written in the present tense.</a:t>
            </a:r>
            <a:endParaRPr lang="tr-TR" dirty="0"/>
          </a:p>
          <a:p>
            <a:endParaRPr lang="tr-TR" dirty="0"/>
          </a:p>
          <a:p>
            <a:r>
              <a:rPr lang="en-US" dirty="0"/>
              <a:t>Only Write What the Audience Can See or Hear!</a:t>
            </a:r>
            <a:r>
              <a:rPr lang="LID4096" dirty="0"/>
              <a:t> </a:t>
            </a:r>
          </a:p>
        </p:txBody>
      </p:sp>
    </p:spTree>
    <p:extLst>
      <p:ext uri="{BB962C8B-B14F-4D97-AF65-F5344CB8AC3E}">
        <p14:creationId xmlns:p14="http://schemas.microsoft.com/office/powerpoint/2010/main" val="1709159267"/>
      </p:ext>
    </p:extLst>
  </p:cSld>
  <p:clrMapOvr>
    <a:masterClrMapping/>
  </p:clrMapOvr>
  <p:transition spd="med">
    <p:push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844824"/>
            <a:ext cx="4581524" cy="369332"/>
          </a:xfrm>
          <a:prstGeom prst="rect">
            <a:avLst/>
          </a:prstGeom>
          <a:noFill/>
        </p:spPr>
        <p:txBody>
          <a:bodyPr wrap="square">
            <a:spAutoFit/>
          </a:bodyPr>
          <a:lstStyle/>
          <a:p>
            <a:r>
              <a:rPr lang="tr-TR" b="1" dirty="0"/>
              <a:t>Action Lines </a:t>
            </a:r>
            <a:endParaRPr lang="LID4096" b="1" dirty="0"/>
          </a:p>
        </p:txBody>
      </p:sp>
      <p:pic>
        <p:nvPicPr>
          <p:cNvPr id="3" name="Picture 2">
            <a:extLst>
              <a:ext uri="{FF2B5EF4-FFF2-40B4-BE49-F238E27FC236}">
                <a16:creationId xmlns:a16="http://schemas.microsoft.com/office/drawing/2014/main" id="{8FF9308F-82A5-BF7A-B10A-E2D9E436E3B6}"/>
              </a:ext>
            </a:extLst>
          </p:cNvPr>
          <p:cNvPicPr>
            <a:picLocks noChangeAspect="1"/>
          </p:cNvPicPr>
          <p:nvPr/>
        </p:nvPicPr>
        <p:blipFill>
          <a:blip r:embed="rId2"/>
          <a:stretch>
            <a:fillRect/>
          </a:stretch>
        </p:blipFill>
        <p:spPr>
          <a:xfrm>
            <a:off x="163252" y="2505670"/>
            <a:ext cx="8858198" cy="923330"/>
          </a:xfrm>
          <a:prstGeom prst="rect">
            <a:avLst/>
          </a:prstGeom>
        </p:spPr>
      </p:pic>
      <p:sp>
        <p:nvSpPr>
          <p:cNvPr id="9" name="TextBox 8">
            <a:extLst>
              <a:ext uri="{FF2B5EF4-FFF2-40B4-BE49-F238E27FC236}">
                <a16:creationId xmlns:a16="http://schemas.microsoft.com/office/drawing/2014/main" id="{2D7F73A9-4988-6932-6CAA-0149F629093B}"/>
              </a:ext>
            </a:extLst>
          </p:cNvPr>
          <p:cNvSpPr txBox="1"/>
          <p:nvPr/>
        </p:nvSpPr>
        <p:spPr>
          <a:xfrm>
            <a:off x="550590" y="3933056"/>
            <a:ext cx="8064896" cy="1200329"/>
          </a:xfrm>
          <a:prstGeom prst="rect">
            <a:avLst/>
          </a:prstGeom>
          <a:noFill/>
        </p:spPr>
        <p:txBody>
          <a:bodyPr wrap="square">
            <a:spAutoFit/>
          </a:bodyPr>
          <a:lstStyle/>
          <a:p>
            <a:r>
              <a:rPr lang="LID4096" dirty="0"/>
              <a:t>Since the audience will not be able to see that Frank wished he had a time machine based on how it is written above, you will need to revise this so the audience can hear that he wished he had a time machine through a voice over</a:t>
            </a:r>
            <a:r>
              <a:rPr lang="tr-TR" dirty="0"/>
              <a:t> </a:t>
            </a:r>
            <a:r>
              <a:rPr lang="en-US" b="0" i="0" dirty="0">
                <a:solidFill>
                  <a:srgbClr val="000000"/>
                </a:solidFill>
                <a:effectLst/>
                <a:latin typeface="Sanchez"/>
              </a:rPr>
              <a:t>(designated as </a:t>
            </a:r>
            <a:r>
              <a:rPr lang="en-US" b="1" i="0" dirty="0">
                <a:solidFill>
                  <a:srgbClr val="000000"/>
                </a:solidFill>
                <a:effectLst/>
                <a:latin typeface="Sanchez"/>
              </a:rPr>
              <a:t>V.O. </a:t>
            </a:r>
            <a:r>
              <a:rPr lang="en-US" b="0" i="0" dirty="0">
                <a:solidFill>
                  <a:srgbClr val="000000"/>
                </a:solidFill>
                <a:effectLst/>
                <a:latin typeface="Sanchez"/>
              </a:rPr>
              <a:t>for voiceover and further described in the </a:t>
            </a:r>
            <a:r>
              <a:rPr lang="en-US" b="0" i="0" dirty="0">
                <a:effectLst/>
                <a:latin typeface="Sanchez"/>
              </a:rPr>
              <a:t>parentheticals</a:t>
            </a:r>
            <a:r>
              <a:rPr lang="en-US" b="0" i="0" dirty="0">
                <a:solidFill>
                  <a:srgbClr val="000000"/>
                </a:solidFill>
                <a:effectLst/>
                <a:latin typeface="Sanchez"/>
              </a:rPr>
              <a:t> section)</a:t>
            </a:r>
            <a:r>
              <a:rPr lang="LID4096" dirty="0"/>
              <a:t>.</a:t>
            </a:r>
          </a:p>
        </p:txBody>
      </p:sp>
    </p:spTree>
    <p:extLst>
      <p:ext uri="{BB962C8B-B14F-4D97-AF65-F5344CB8AC3E}">
        <p14:creationId xmlns:p14="http://schemas.microsoft.com/office/powerpoint/2010/main" val="2850260257"/>
      </p:ext>
    </p:extLst>
  </p:cSld>
  <p:clrMapOvr>
    <a:masterClrMapping/>
  </p:clrMapOvr>
  <p:transition spd="med">
    <p:push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844824"/>
            <a:ext cx="4581524" cy="369332"/>
          </a:xfrm>
          <a:prstGeom prst="rect">
            <a:avLst/>
          </a:prstGeom>
          <a:noFill/>
        </p:spPr>
        <p:txBody>
          <a:bodyPr wrap="square">
            <a:spAutoFit/>
          </a:bodyPr>
          <a:lstStyle/>
          <a:p>
            <a:r>
              <a:rPr lang="tr-TR" b="1" dirty="0"/>
              <a:t>Action Lines </a:t>
            </a:r>
            <a:endParaRPr lang="LID4096" b="1" dirty="0"/>
          </a:p>
        </p:txBody>
      </p:sp>
      <p:pic>
        <p:nvPicPr>
          <p:cNvPr id="4" name="Picture 3">
            <a:extLst>
              <a:ext uri="{FF2B5EF4-FFF2-40B4-BE49-F238E27FC236}">
                <a16:creationId xmlns:a16="http://schemas.microsoft.com/office/drawing/2014/main" id="{9D752CA2-59F8-F4C7-D980-04D81B3B699E}"/>
              </a:ext>
            </a:extLst>
          </p:cNvPr>
          <p:cNvPicPr>
            <a:picLocks noChangeAspect="1"/>
          </p:cNvPicPr>
          <p:nvPr/>
        </p:nvPicPr>
        <p:blipFill>
          <a:blip r:embed="rId2"/>
          <a:stretch>
            <a:fillRect/>
          </a:stretch>
        </p:blipFill>
        <p:spPr>
          <a:xfrm>
            <a:off x="819083" y="2575906"/>
            <a:ext cx="7581027" cy="1292221"/>
          </a:xfrm>
          <a:prstGeom prst="rect">
            <a:avLst/>
          </a:prstGeom>
        </p:spPr>
      </p:pic>
      <p:sp>
        <p:nvSpPr>
          <p:cNvPr id="7" name="TextBox 6">
            <a:extLst>
              <a:ext uri="{FF2B5EF4-FFF2-40B4-BE49-F238E27FC236}">
                <a16:creationId xmlns:a16="http://schemas.microsoft.com/office/drawing/2014/main" id="{5DAF7757-F173-EE12-3453-A40F8375122B}"/>
              </a:ext>
            </a:extLst>
          </p:cNvPr>
          <p:cNvSpPr txBox="1"/>
          <p:nvPr/>
        </p:nvSpPr>
        <p:spPr>
          <a:xfrm>
            <a:off x="547440" y="4560881"/>
            <a:ext cx="8049120" cy="923330"/>
          </a:xfrm>
          <a:prstGeom prst="rect">
            <a:avLst/>
          </a:prstGeom>
          <a:noFill/>
        </p:spPr>
        <p:txBody>
          <a:bodyPr wrap="square">
            <a:spAutoFit/>
          </a:bodyPr>
          <a:lstStyle/>
          <a:p>
            <a:r>
              <a:rPr lang="LID4096" dirty="0"/>
              <a:t>Now the audience will know that Frank wished he had a time machine through his voice over. Keeping this rule in mind when writing will make it very easy for the reader to visualize the film in their heads.</a:t>
            </a:r>
          </a:p>
        </p:txBody>
      </p:sp>
    </p:spTree>
    <p:extLst>
      <p:ext uri="{BB962C8B-B14F-4D97-AF65-F5344CB8AC3E}">
        <p14:creationId xmlns:p14="http://schemas.microsoft.com/office/powerpoint/2010/main" val="2095829668"/>
      </p:ext>
    </p:extLst>
  </p:cSld>
  <p:clrMapOvr>
    <a:masterClrMapping/>
  </p:clrMapOvr>
  <p:transition spd="med">
    <p:push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844824"/>
            <a:ext cx="4581524" cy="369332"/>
          </a:xfrm>
          <a:prstGeom prst="rect">
            <a:avLst/>
          </a:prstGeom>
          <a:noFill/>
        </p:spPr>
        <p:txBody>
          <a:bodyPr wrap="square">
            <a:spAutoFit/>
          </a:bodyPr>
          <a:lstStyle/>
          <a:p>
            <a:r>
              <a:rPr lang="tr-TR" b="1" dirty="0"/>
              <a:t>Action Lines </a:t>
            </a:r>
            <a:endParaRPr lang="LID4096" b="1" dirty="0"/>
          </a:p>
        </p:txBody>
      </p:sp>
      <p:sp>
        <p:nvSpPr>
          <p:cNvPr id="3" name="TextBox 2">
            <a:extLst>
              <a:ext uri="{FF2B5EF4-FFF2-40B4-BE49-F238E27FC236}">
                <a16:creationId xmlns:a16="http://schemas.microsoft.com/office/drawing/2014/main" id="{85AD1E97-0386-4CCC-6AD4-1CA4B98FFD71}"/>
              </a:ext>
            </a:extLst>
          </p:cNvPr>
          <p:cNvSpPr txBox="1"/>
          <p:nvPr/>
        </p:nvSpPr>
        <p:spPr>
          <a:xfrm>
            <a:off x="456101" y="2637493"/>
            <a:ext cx="7947942" cy="1200329"/>
          </a:xfrm>
          <a:prstGeom prst="rect">
            <a:avLst/>
          </a:prstGeom>
          <a:noFill/>
        </p:spPr>
        <p:txBody>
          <a:bodyPr wrap="square">
            <a:spAutoFit/>
          </a:bodyPr>
          <a:lstStyle/>
          <a:p>
            <a:r>
              <a:rPr lang="en-US" b="0" i="0" dirty="0">
                <a:solidFill>
                  <a:srgbClr val="000000"/>
                </a:solidFill>
                <a:effectLst/>
                <a:latin typeface="Sanchez"/>
              </a:rPr>
              <a:t>When describing the shot or introducing a character through your action lines, </a:t>
            </a:r>
            <a:r>
              <a:rPr lang="en-US" b="1" i="0" dirty="0">
                <a:solidFill>
                  <a:srgbClr val="000000"/>
                </a:solidFill>
                <a:effectLst/>
                <a:latin typeface="Sanchez"/>
              </a:rPr>
              <a:t>try not to exceed 4 action lines per paragraph</a:t>
            </a:r>
            <a:r>
              <a:rPr lang="en-US" b="0" i="0" dirty="0">
                <a:solidFill>
                  <a:srgbClr val="000000"/>
                </a:solidFill>
                <a:effectLst/>
                <a:latin typeface="Sanchez"/>
              </a:rPr>
              <a:t> for the sake of the reader.</a:t>
            </a:r>
            <a:endParaRPr lang="tr-TR" b="0" i="0" dirty="0">
              <a:solidFill>
                <a:srgbClr val="000000"/>
              </a:solidFill>
              <a:effectLst/>
              <a:latin typeface="Sanchez"/>
            </a:endParaRPr>
          </a:p>
          <a:p>
            <a:endParaRPr lang="tr-TR" dirty="0">
              <a:latin typeface="Sanchez"/>
            </a:endParaRPr>
          </a:p>
          <a:p>
            <a:r>
              <a:rPr lang="en-US" b="0" i="0" dirty="0">
                <a:solidFill>
                  <a:srgbClr val="000000"/>
                </a:solidFill>
                <a:effectLst/>
                <a:latin typeface="Sanchez"/>
              </a:rPr>
              <a:t>This rule varies slightly, but most are in agreement that the shorter the better.</a:t>
            </a:r>
            <a:endParaRPr lang="LID4096" dirty="0"/>
          </a:p>
        </p:txBody>
      </p:sp>
    </p:spTree>
    <p:extLst>
      <p:ext uri="{BB962C8B-B14F-4D97-AF65-F5344CB8AC3E}">
        <p14:creationId xmlns:p14="http://schemas.microsoft.com/office/powerpoint/2010/main" val="372192760"/>
      </p:ext>
    </p:extLst>
  </p:cSld>
  <p:clrMapOvr>
    <a:masterClrMapping/>
  </p:clrMapOvr>
  <p:transition spd="med">
    <p:push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22C6F44-FE2A-5C05-1135-9B926371D5B0}"/>
              </a:ext>
            </a:extLst>
          </p:cNvPr>
          <p:cNvPicPr>
            <a:picLocks noChangeAspect="1"/>
          </p:cNvPicPr>
          <p:nvPr/>
        </p:nvPicPr>
        <p:blipFill>
          <a:blip r:embed="rId2"/>
          <a:stretch>
            <a:fillRect/>
          </a:stretch>
        </p:blipFill>
        <p:spPr>
          <a:xfrm>
            <a:off x="1907704" y="3287518"/>
            <a:ext cx="4752528" cy="3019899"/>
          </a:xfrm>
          <a:prstGeom prst="rect">
            <a:avLst/>
          </a:prstGeom>
        </p:spPr>
      </p:pic>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440482" y="1844824"/>
            <a:ext cx="4581524" cy="369332"/>
          </a:xfrm>
          <a:prstGeom prst="rect">
            <a:avLst/>
          </a:prstGeom>
          <a:noFill/>
        </p:spPr>
        <p:txBody>
          <a:bodyPr wrap="square">
            <a:spAutoFit/>
          </a:bodyPr>
          <a:lstStyle/>
          <a:p>
            <a:r>
              <a:rPr lang="tr-TR" b="1" dirty="0"/>
              <a:t>Character Cues</a:t>
            </a:r>
            <a:endParaRPr lang="LID4096" b="1" dirty="0"/>
          </a:p>
        </p:txBody>
      </p:sp>
      <p:sp>
        <p:nvSpPr>
          <p:cNvPr id="3" name="TextBox 2">
            <a:extLst>
              <a:ext uri="{FF2B5EF4-FFF2-40B4-BE49-F238E27FC236}">
                <a16:creationId xmlns:a16="http://schemas.microsoft.com/office/drawing/2014/main" id="{BA35B612-E3B4-639D-8EA8-495DCF341160}"/>
              </a:ext>
            </a:extLst>
          </p:cNvPr>
          <p:cNvSpPr txBox="1"/>
          <p:nvPr/>
        </p:nvSpPr>
        <p:spPr>
          <a:xfrm>
            <a:off x="454013" y="2420888"/>
            <a:ext cx="7875934" cy="646331"/>
          </a:xfrm>
          <a:prstGeom prst="rect">
            <a:avLst/>
          </a:prstGeom>
          <a:noFill/>
        </p:spPr>
        <p:txBody>
          <a:bodyPr wrap="square">
            <a:spAutoFit/>
          </a:bodyPr>
          <a:lstStyle/>
          <a:p>
            <a:r>
              <a:rPr lang="LID4096" dirty="0"/>
              <a:t>After the action/description, when a character speaks, we start with their name. You center and capitalize a character ID and put dialogue underneath. </a:t>
            </a:r>
          </a:p>
        </p:txBody>
      </p:sp>
      <p:pic>
        <p:nvPicPr>
          <p:cNvPr id="9" name="Picture 8">
            <a:extLst>
              <a:ext uri="{FF2B5EF4-FFF2-40B4-BE49-F238E27FC236}">
                <a16:creationId xmlns:a16="http://schemas.microsoft.com/office/drawing/2014/main" id="{42725E29-EA3E-1467-31BD-B2CD4CB5AAF4}"/>
              </a:ext>
            </a:extLst>
          </p:cNvPr>
          <p:cNvPicPr>
            <a:picLocks noChangeAspect="1"/>
          </p:cNvPicPr>
          <p:nvPr/>
        </p:nvPicPr>
        <p:blipFill>
          <a:blip r:embed="rId3"/>
          <a:stretch>
            <a:fillRect/>
          </a:stretch>
        </p:blipFill>
        <p:spPr>
          <a:xfrm>
            <a:off x="2411413" y="3928618"/>
            <a:ext cx="4007608" cy="360039"/>
          </a:xfrm>
          <a:prstGeom prst="rect">
            <a:avLst/>
          </a:prstGeom>
        </p:spPr>
      </p:pic>
      <p:sp>
        <p:nvSpPr>
          <p:cNvPr id="11" name="Rectangle 10">
            <a:extLst>
              <a:ext uri="{FF2B5EF4-FFF2-40B4-BE49-F238E27FC236}">
                <a16:creationId xmlns:a16="http://schemas.microsoft.com/office/drawing/2014/main" id="{10198C05-D400-2F24-E675-F45D6513482E}"/>
              </a:ext>
            </a:extLst>
          </p:cNvPr>
          <p:cNvSpPr/>
          <p:nvPr/>
        </p:nvSpPr>
        <p:spPr bwMode="auto">
          <a:xfrm>
            <a:off x="3563888" y="4244536"/>
            <a:ext cx="576064" cy="184666"/>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
        <p:nvSpPr>
          <p:cNvPr id="12" name="Rectangle 11">
            <a:extLst>
              <a:ext uri="{FF2B5EF4-FFF2-40B4-BE49-F238E27FC236}">
                <a16:creationId xmlns:a16="http://schemas.microsoft.com/office/drawing/2014/main" id="{3D50D7F5-8328-AFD4-DD5B-9E5DC7A8656C}"/>
              </a:ext>
            </a:extLst>
          </p:cNvPr>
          <p:cNvSpPr/>
          <p:nvPr/>
        </p:nvSpPr>
        <p:spPr bwMode="auto">
          <a:xfrm>
            <a:off x="3563888" y="4545219"/>
            <a:ext cx="576064" cy="184666"/>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2723782458"/>
      </p:ext>
    </p:extLst>
  </p:cSld>
  <p:clrMapOvr>
    <a:masterClrMapping/>
  </p:clrMapOvr>
  <p:transition spd="med">
    <p:push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Dialogue</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7992888" cy="923330"/>
          </a:xfrm>
          <a:prstGeom prst="rect">
            <a:avLst/>
          </a:prstGeom>
          <a:noFill/>
        </p:spPr>
        <p:txBody>
          <a:bodyPr wrap="square">
            <a:spAutoFit/>
          </a:bodyPr>
          <a:lstStyle/>
          <a:p>
            <a:r>
              <a:rPr lang="LID4096" dirty="0"/>
              <a:t>When your characters speak, it is called dialogue and it is written in a specific way. First, you need to write the name of the character speaking in ALL CAPS approximately 3.5" from the left margin.</a:t>
            </a:r>
          </a:p>
        </p:txBody>
      </p:sp>
      <p:pic>
        <p:nvPicPr>
          <p:cNvPr id="14" name="Picture 13">
            <a:extLst>
              <a:ext uri="{FF2B5EF4-FFF2-40B4-BE49-F238E27FC236}">
                <a16:creationId xmlns:a16="http://schemas.microsoft.com/office/drawing/2014/main" id="{D06C3526-6AF3-F14A-5422-0FDD31E0128B}"/>
              </a:ext>
            </a:extLst>
          </p:cNvPr>
          <p:cNvPicPr>
            <a:picLocks noChangeAspect="1"/>
          </p:cNvPicPr>
          <p:nvPr/>
        </p:nvPicPr>
        <p:blipFill>
          <a:blip r:embed="rId2"/>
          <a:stretch>
            <a:fillRect/>
          </a:stretch>
        </p:blipFill>
        <p:spPr>
          <a:xfrm>
            <a:off x="1652180" y="3212976"/>
            <a:ext cx="5839640" cy="3372321"/>
          </a:xfrm>
          <a:prstGeom prst="rect">
            <a:avLst/>
          </a:prstGeom>
        </p:spPr>
      </p:pic>
      <p:sp>
        <p:nvSpPr>
          <p:cNvPr id="15" name="Rectangle 14">
            <a:extLst>
              <a:ext uri="{FF2B5EF4-FFF2-40B4-BE49-F238E27FC236}">
                <a16:creationId xmlns:a16="http://schemas.microsoft.com/office/drawing/2014/main" id="{10FEE45A-64A8-F797-A73D-3F281990405A}"/>
              </a:ext>
            </a:extLst>
          </p:cNvPr>
          <p:cNvSpPr/>
          <p:nvPr/>
        </p:nvSpPr>
        <p:spPr bwMode="auto">
          <a:xfrm>
            <a:off x="2267744" y="4077072"/>
            <a:ext cx="3312368" cy="1265553"/>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
        <p:nvSpPr>
          <p:cNvPr id="16" name="Rectangle 15">
            <a:extLst>
              <a:ext uri="{FF2B5EF4-FFF2-40B4-BE49-F238E27FC236}">
                <a16:creationId xmlns:a16="http://schemas.microsoft.com/office/drawing/2014/main" id="{5E594763-EB84-EB19-6E5F-5F0047EBF015}"/>
              </a:ext>
            </a:extLst>
          </p:cNvPr>
          <p:cNvSpPr/>
          <p:nvPr/>
        </p:nvSpPr>
        <p:spPr bwMode="auto">
          <a:xfrm>
            <a:off x="2686298" y="5805264"/>
            <a:ext cx="3397870" cy="791474"/>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2394110920"/>
      </p:ext>
    </p:extLst>
  </p:cSld>
  <p:clrMapOvr>
    <a:masterClrMapping/>
  </p:clrMapOvr>
  <p:transition spd="med">
    <p:push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Dialogue</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7992888" cy="923330"/>
          </a:xfrm>
          <a:prstGeom prst="rect">
            <a:avLst/>
          </a:prstGeom>
          <a:noFill/>
        </p:spPr>
        <p:txBody>
          <a:bodyPr wrap="square">
            <a:spAutoFit/>
          </a:bodyPr>
          <a:lstStyle/>
          <a:p>
            <a:r>
              <a:rPr lang="en-US" dirty="0"/>
              <a:t>The dialogue is then inserted as a single space below approximately 2.5" from the left margin. Never center the dialogue on the page! It should always be left justified at the approximate margins listed above.</a:t>
            </a:r>
            <a:endParaRPr lang="LID4096" dirty="0"/>
          </a:p>
        </p:txBody>
      </p:sp>
      <p:pic>
        <p:nvPicPr>
          <p:cNvPr id="14" name="Picture 13">
            <a:extLst>
              <a:ext uri="{FF2B5EF4-FFF2-40B4-BE49-F238E27FC236}">
                <a16:creationId xmlns:a16="http://schemas.microsoft.com/office/drawing/2014/main" id="{D06C3526-6AF3-F14A-5422-0FDD31E0128B}"/>
              </a:ext>
            </a:extLst>
          </p:cNvPr>
          <p:cNvPicPr>
            <a:picLocks noChangeAspect="1"/>
          </p:cNvPicPr>
          <p:nvPr/>
        </p:nvPicPr>
        <p:blipFill>
          <a:blip r:embed="rId2"/>
          <a:stretch>
            <a:fillRect/>
          </a:stretch>
        </p:blipFill>
        <p:spPr>
          <a:xfrm>
            <a:off x="1652180" y="3212976"/>
            <a:ext cx="5839640" cy="3372321"/>
          </a:xfrm>
          <a:prstGeom prst="rect">
            <a:avLst/>
          </a:prstGeom>
        </p:spPr>
      </p:pic>
      <p:sp>
        <p:nvSpPr>
          <p:cNvPr id="15" name="Rectangle 14">
            <a:extLst>
              <a:ext uri="{FF2B5EF4-FFF2-40B4-BE49-F238E27FC236}">
                <a16:creationId xmlns:a16="http://schemas.microsoft.com/office/drawing/2014/main" id="{10FEE45A-64A8-F797-A73D-3F281990405A}"/>
              </a:ext>
            </a:extLst>
          </p:cNvPr>
          <p:cNvSpPr/>
          <p:nvPr/>
        </p:nvSpPr>
        <p:spPr bwMode="auto">
          <a:xfrm>
            <a:off x="2267744" y="4077072"/>
            <a:ext cx="3312368" cy="1265553"/>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
        <p:nvSpPr>
          <p:cNvPr id="16" name="Rectangle 15">
            <a:extLst>
              <a:ext uri="{FF2B5EF4-FFF2-40B4-BE49-F238E27FC236}">
                <a16:creationId xmlns:a16="http://schemas.microsoft.com/office/drawing/2014/main" id="{5E594763-EB84-EB19-6E5F-5F0047EBF015}"/>
              </a:ext>
            </a:extLst>
          </p:cNvPr>
          <p:cNvSpPr/>
          <p:nvPr/>
        </p:nvSpPr>
        <p:spPr bwMode="auto">
          <a:xfrm>
            <a:off x="2686298" y="5805264"/>
            <a:ext cx="3397870" cy="791474"/>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2977531081"/>
      </p:ext>
    </p:extLst>
  </p:cSld>
  <p:clrMapOvr>
    <a:masterClrMapping/>
  </p:clrMapOvr>
  <p:transition spd="med">
    <p:push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Dialogue</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7992888" cy="923330"/>
          </a:xfrm>
          <a:prstGeom prst="rect">
            <a:avLst/>
          </a:prstGeom>
          <a:noFill/>
        </p:spPr>
        <p:txBody>
          <a:bodyPr wrap="square">
            <a:spAutoFit/>
          </a:bodyPr>
          <a:lstStyle/>
          <a:p>
            <a:r>
              <a:rPr lang="en-US" dirty="0"/>
              <a:t>If there is more than one character speaking in the scene, you will need to identify each speaking character every time they speak. Speaking characters are double spaced. </a:t>
            </a:r>
            <a:endParaRPr lang="LID4096" dirty="0"/>
          </a:p>
        </p:txBody>
      </p:sp>
      <p:pic>
        <p:nvPicPr>
          <p:cNvPr id="14" name="Picture 13">
            <a:extLst>
              <a:ext uri="{FF2B5EF4-FFF2-40B4-BE49-F238E27FC236}">
                <a16:creationId xmlns:a16="http://schemas.microsoft.com/office/drawing/2014/main" id="{D06C3526-6AF3-F14A-5422-0FDD31E0128B}"/>
              </a:ext>
            </a:extLst>
          </p:cNvPr>
          <p:cNvPicPr>
            <a:picLocks noChangeAspect="1"/>
          </p:cNvPicPr>
          <p:nvPr/>
        </p:nvPicPr>
        <p:blipFill>
          <a:blip r:embed="rId2"/>
          <a:stretch>
            <a:fillRect/>
          </a:stretch>
        </p:blipFill>
        <p:spPr>
          <a:xfrm>
            <a:off x="1652180" y="3212976"/>
            <a:ext cx="5839640" cy="3372321"/>
          </a:xfrm>
          <a:prstGeom prst="rect">
            <a:avLst/>
          </a:prstGeom>
        </p:spPr>
      </p:pic>
      <p:sp>
        <p:nvSpPr>
          <p:cNvPr id="15" name="Rectangle 14">
            <a:extLst>
              <a:ext uri="{FF2B5EF4-FFF2-40B4-BE49-F238E27FC236}">
                <a16:creationId xmlns:a16="http://schemas.microsoft.com/office/drawing/2014/main" id="{10FEE45A-64A8-F797-A73D-3F281990405A}"/>
              </a:ext>
            </a:extLst>
          </p:cNvPr>
          <p:cNvSpPr/>
          <p:nvPr/>
        </p:nvSpPr>
        <p:spPr bwMode="auto">
          <a:xfrm>
            <a:off x="2267744" y="4077072"/>
            <a:ext cx="3312368" cy="1265553"/>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
        <p:nvSpPr>
          <p:cNvPr id="16" name="Rectangle 15">
            <a:extLst>
              <a:ext uri="{FF2B5EF4-FFF2-40B4-BE49-F238E27FC236}">
                <a16:creationId xmlns:a16="http://schemas.microsoft.com/office/drawing/2014/main" id="{5E594763-EB84-EB19-6E5F-5F0047EBF015}"/>
              </a:ext>
            </a:extLst>
          </p:cNvPr>
          <p:cNvSpPr/>
          <p:nvPr/>
        </p:nvSpPr>
        <p:spPr bwMode="auto">
          <a:xfrm>
            <a:off x="2686298" y="5805264"/>
            <a:ext cx="3397870" cy="791474"/>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1603322766"/>
      </p:ext>
    </p:extLst>
  </p:cSld>
  <p:clrMapOvr>
    <a:masterClrMapping/>
  </p:clrMapOvr>
  <p:transition spd="med">
    <p:push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Dialogue - Extensions</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7992888" cy="646331"/>
          </a:xfrm>
          <a:prstGeom prst="rect">
            <a:avLst/>
          </a:prstGeom>
          <a:noFill/>
        </p:spPr>
        <p:txBody>
          <a:bodyPr wrap="square">
            <a:spAutoFit/>
          </a:bodyPr>
          <a:lstStyle/>
          <a:p>
            <a:r>
              <a:rPr lang="en-US" dirty="0"/>
              <a:t>If the same character speaks through an action, you need to write (CONT'D) next to the character's name after the line of action. For example:</a:t>
            </a:r>
            <a:endParaRPr lang="LID4096" dirty="0"/>
          </a:p>
        </p:txBody>
      </p:sp>
      <p:pic>
        <p:nvPicPr>
          <p:cNvPr id="3" name="Picture 2">
            <a:extLst>
              <a:ext uri="{FF2B5EF4-FFF2-40B4-BE49-F238E27FC236}">
                <a16:creationId xmlns:a16="http://schemas.microsoft.com/office/drawing/2014/main" id="{399831CE-DEED-B99E-7634-73FBC581EFB1}"/>
              </a:ext>
            </a:extLst>
          </p:cNvPr>
          <p:cNvPicPr>
            <a:picLocks noChangeAspect="1"/>
          </p:cNvPicPr>
          <p:nvPr/>
        </p:nvPicPr>
        <p:blipFill>
          <a:blip r:embed="rId2"/>
          <a:stretch>
            <a:fillRect/>
          </a:stretch>
        </p:blipFill>
        <p:spPr>
          <a:xfrm>
            <a:off x="1403648" y="3311325"/>
            <a:ext cx="5792008" cy="2905530"/>
          </a:xfrm>
          <a:prstGeom prst="rect">
            <a:avLst/>
          </a:prstGeom>
        </p:spPr>
      </p:pic>
      <p:sp>
        <p:nvSpPr>
          <p:cNvPr id="16" name="Rectangle 15">
            <a:extLst>
              <a:ext uri="{FF2B5EF4-FFF2-40B4-BE49-F238E27FC236}">
                <a16:creationId xmlns:a16="http://schemas.microsoft.com/office/drawing/2014/main" id="{5E594763-EB84-EB19-6E5F-5F0047EBF015}"/>
              </a:ext>
            </a:extLst>
          </p:cNvPr>
          <p:cNvSpPr/>
          <p:nvPr/>
        </p:nvSpPr>
        <p:spPr bwMode="auto">
          <a:xfrm>
            <a:off x="2195736" y="5625551"/>
            <a:ext cx="3397870" cy="791474"/>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2146024948"/>
      </p:ext>
    </p:extLst>
  </p:cSld>
  <p:clrMapOvr>
    <a:masterClrMapping/>
  </p:clrMapOvr>
  <p:transition spd="med">
    <p:push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DC348A1-168C-1BB5-2D09-F6F9B5E07499}"/>
              </a:ext>
            </a:extLst>
          </p:cNvPr>
          <p:cNvPicPr>
            <a:picLocks noChangeAspect="1"/>
          </p:cNvPicPr>
          <p:nvPr/>
        </p:nvPicPr>
        <p:blipFill>
          <a:blip r:embed="rId2"/>
          <a:stretch>
            <a:fillRect/>
          </a:stretch>
        </p:blipFill>
        <p:spPr>
          <a:xfrm>
            <a:off x="1403648" y="3068960"/>
            <a:ext cx="5763429" cy="3591426"/>
          </a:xfrm>
          <a:prstGeom prst="rect">
            <a:avLst/>
          </a:prstGeom>
        </p:spPr>
      </p:pic>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Dialogue - Extensions</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7992888" cy="1200329"/>
          </a:xfrm>
          <a:prstGeom prst="rect">
            <a:avLst/>
          </a:prstGeom>
          <a:noFill/>
        </p:spPr>
        <p:txBody>
          <a:bodyPr wrap="square">
            <a:spAutoFit/>
          </a:bodyPr>
          <a:lstStyle/>
          <a:p>
            <a:r>
              <a:rPr lang="en-US" b="0" i="0" dirty="0">
                <a:solidFill>
                  <a:srgbClr val="000000"/>
                </a:solidFill>
                <a:effectLst/>
                <a:latin typeface="Sanchez"/>
              </a:rPr>
              <a:t>When a character is speaking in a scene but is not physically in the scene or not physically speaking in the scene, you need to designate the dialogue as either voice-over (V.O.) or off-screen (O.S.) which is placed on the same line as the speaking character's name in the dialogue.</a:t>
            </a:r>
            <a:endParaRPr lang="LID4096" dirty="0"/>
          </a:p>
        </p:txBody>
      </p:sp>
      <p:sp>
        <p:nvSpPr>
          <p:cNvPr id="16" name="Rectangle 15">
            <a:extLst>
              <a:ext uri="{FF2B5EF4-FFF2-40B4-BE49-F238E27FC236}">
                <a16:creationId xmlns:a16="http://schemas.microsoft.com/office/drawing/2014/main" id="{5E594763-EB84-EB19-6E5F-5F0047EBF015}"/>
              </a:ext>
            </a:extLst>
          </p:cNvPr>
          <p:cNvSpPr/>
          <p:nvPr/>
        </p:nvSpPr>
        <p:spPr bwMode="auto">
          <a:xfrm>
            <a:off x="1115616" y="4077072"/>
            <a:ext cx="5832647" cy="2016224"/>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2648402730"/>
      </p:ext>
    </p:extLst>
  </p:cSld>
  <p:clrMapOvr>
    <a:masterClrMapping/>
  </p:clrMapOvr>
  <p:transition spd="med">
    <p:push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EF5DC8-9247-C422-9739-F8DA3851263E}"/>
              </a:ext>
            </a:extLst>
          </p:cNvPr>
          <p:cNvPicPr>
            <a:picLocks noChangeAspect="1"/>
          </p:cNvPicPr>
          <p:nvPr/>
        </p:nvPicPr>
        <p:blipFill>
          <a:blip r:embed="rId2"/>
          <a:stretch>
            <a:fillRect/>
          </a:stretch>
        </p:blipFill>
        <p:spPr>
          <a:xfrm>
            <a:off x="628087" y="3749252"/>
            <a:ext cx="7520023" cy="2390470"/>
          </a:xfrm>
          <a:prstGeom prst="rect">
            <a:avLst/>
          </a:prstGeom>
        </p:spPr>
      </p:pic>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Parentheticals</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7992888" cy="1754326"/>
          </a:xfrm>
          <a:prstGeom prst="rect">
            <a:avLst/>
          </a:prstGeom>
          <a:noFill/>
        </p:spPr>
        <p:txBody>
          <a:bodyPr wrap="square">
            <a:spAutoFit/>
          </a:bodyPr>
          <a:lstStyle/>
          <a:p>
            <a:r>
              <a:rPr lang="en-US" b="0" i="0" dirty="0">
                <a:solidFill>
                  <a:srgbClr val="000000"/>
                </a:solidFill>
                <a:effectLst/>
                <a:latin typeface="Sanchez"/>
              </a:rPr>
              <a:t>Parentheticals are direction for the actors and are placed beneath the speaking character's name in the dialogue to express the actor's emotions or actions. As with any direction in a spec script, it should be minimal, so make sure to use parentheticals only when necessary.</a:t>
            </a:r>
            <a:r>
              <a:rPr lang="tr-TR" b="0" i="0" dirty="0">
                <a:solidFill>
                  <a:srgbClr val="000000"/>
                </a:solidFill>
                <a:effectLst/>
                <a:latin typeface="Sanchez"/>
              </a:rPr>
              <a:t> </a:t>
            </a:r>
            <a:r>
              <a:rPr lang="en-US" b="0" i="0" dirty="0">
                <a:solidFill>
                  <a:srgbClr val="000000"/>
                </a:solidFill>
                <a:effectLst/>
                <a:latin typeface="Sanchez"/>
              </a:rPr>
              <a:t>When you need to represent a brief pause in the character's speech, you should use the parenthetical (beat) between the lines of dialogue.</a:t>
            </a:r>
            <a:endParaRPr lang="LID4096" dirty="0"/>
          </a:p>
        </p:txBody>
      </p:sp>
      <p:sp>
        <p:nvSpPr>
          <p:cNvPr id="16" name="Rectangle 15">
            <a:extLst>
              <a:ext uri="{FF2B5EF4-FFF2-40B4-BE49-F238E27FC236}">
                <a16:creationId xmlns:a16="http://schemas.microsoft.com/office/drawing/2014/main" id="{5E594763-EB84-EB19-6E5F-5F0047EBF015}"/>
              </a:ext>
            </a:extLst>
          </p:cNvPr>
          <p:cNvSpPr/>
          <p:nvPr/>
        </p:nvSpPr>
        <p:spPr bwMode="auto">
          <a:xfrm>
            <a:off x="1739348" y="4137956"/>
            <a:ext cx="3983333" cy="187360"/>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
        <p:nvSpPr>
          <p:cNvPr id="7" name="Rectangle 6">
            <a:extLst>
              <a:ext uri="{FF2B5EF4-FFF2-40B4-BE49-F238E27FC236}">
                <a16:creationId xmlns:a16="http://schemas.microsoft.com/office/drawing/2014/main" id="{66C2F71C-72B6-7ECB-5535-01D9ECC75E00}"/>
              </a:ext>
            </a:extLst>
          </p:cNvPr>
          <p:cNvSpPr/>
          <p:nvPr/>
        </p:nvSpPr>
        <p:spPr bwMode="auto">
          <a:xfrm>
            <a:off x="1883364" y="5158312"/>
            <a:ext cx="3983333" cy="187360"/>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
        <p:nvSpPr>
          <p:cNvPr id="9" name="Rectangle 8">
            <a:extLst>
              <a:ext uri="{FF2B5EF4-FFF2-40B4-BE49-F238E27FC236}">
                <a16:creationId xmlns:a16="http://schemas.microsoft.com/office/drawing/2014/main" id="{C3C62DD4-BC74-625E-C1A6-6CA5D255A699}"/>
              </a:ext>
            </a:extLst>
          </p:cNvPr>
          <p:cNvSpPr/>
          <p:nvPr/>
        </p:nvSpPr>
        <p:spPr bwMode="auto">
          <a:xfrm>
            <a:off x="1739348" y="5569197"/>
            <a:ext cx="3983333" cy="187360"/>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2348515626"/>
      </p:ext>
    </p:extLst>
  </p:cSld>
  <p:clrMapOvr>
    <a:masterClrMapping/>
  </p:clrMapOvr>
  <p:transition spd="med">
    <p:push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8348E-1E1E-55DB-4425-1BD0F726F0B2}"/>
              </a:ext>
            </a:extLst>
          </p:cNvPr>
          <p:cNvPicPr>
            <a:picLocks noChangeAspect="1"/>
          </p:cNvPicPr>
          <p:nvPr/>
        </p:nvPicPr>
        <p:blipFill>
          <a:blip r:embed="rId2"/>
          <a:stretch>
            <a:fillRect/>
          </a:stretch>
        </p:blipFill>
        <p:spPr>
          <a:xfrm>
            <a:off x="1043608" y="3285013"/>
            <a:ext cx="5801535" cy="3210373"/>
          </a:xfrm>
          <a:prstGeom prst="rect">
            <a:avLst/>
          </a:prstGeom>
        </p:spPr>
      </p:pic>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Transitions</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8424936" cy="923330"/>
          </a:xfrm>
          <a:prstGeom prst="rect">
            <a:avLst/>
          </a:prstGeom>
          <a:noFill/>
        </p:spPr>
        <p:txBody>
          <a:bodyPr wrap="square">
            <a:spAutoFit/>
          </a:bodyPr>
          <a:lstStyle/>
          <a:p>
            <a:r>
              <a:rPr lang="en-US" b="0" i="0" dirty="0">
                <a:solidFill>
                  <a:srgbClr val="000000"/>
                </a:solidFill>
                <a:effectLst/>
                <a:latin typeface="Sanchez"/>
              </a:rPr>
              <a:t>Direction for how one shot transitions in the next shot in your screenplay is called a transition. All transitions are double spaced and are approximately 6.0" from the left margin.</a:t>
            </a:r>
            <a:r>
              <a:rPr lang="tr-TR" b="0" i="0" dirty="0">
                <a:solidFill>
                  <a:srgbClr val="000000"/>
                </a:solidFill>
                <a:effectLst/>
                <a:latin typeface="Sanchez"/>
              </a:rPr>
              <a:t> </a:t>
            </a:r>
            <a:r>
              <a:rPr lang="en-US" b="0" i="0" dirty="0">
                <a:solidFill>
                  <a:srgbClr val="000000"/>
                </a:solidFill>
                <a:effectLst/>
                <a:latin typeface="Sanchez"/>
              </a:rPr>
              <a:t>Popular transitions also include "DISSOLVE TO:" and "CUT TO:" For example:</a:t>
            </a:r>
          </a:p>
        </p:txBody>
      </p:sp>
      <p:sp>
        <p:nvSpPr>
          <p:cNvPr id="9" name="Rectangle 8">
            <a:extLst>
              <a:ext uri="{FF2B5EF4-FFF2-40B4-BE49-F238E27FC236}">
                <a16:creationId xmlns:a16="http://schemas.microsoft.com/office/drawing/2014/main" id="{C3C62DD4-BC74-625E-C1A6-6CA5D255A699}"/>
              </a:ext>
            </a:extLst>
          </p:cNvPr>
          <p:cNvSpPr/>
          <p:nvPr/>
        </p:nvSpPr>
        <p:spPr bwMode="auto">
          <a:xfrm>
            <a:off x="5580112" y="5157192"/>
            <a:ext cx="1008112" cy="286676"/>
          </a:xfrm>
          <a:prstGeom prst="rect">
            <a:avLst/>
          </a:prstGeom>
          <a:noFill/>
          <a:ln w="25400" cap="flat" cmpd="sng" algn="ctr">
            <a:solidFill>
              <a:srgbClr val="FFC000"/>
            </a:solidFill>
            <a:prstDash val="solid"/>
            <a:bevel/>
            <a:headEnd type="none" w="med" len="med"/>
            <a:tailEnd type="none" w="med" len="med"/>
          </a:ln>
          <a:effectLst>
            <a:outerShdw dist="23000" dir="5400000" algn="ctr" rotWithShape="0">
              <a:srgbClr val="000000">
                <a:alpha val="34999"/>
              </a:srgbClr>
            </a:outerShdw>
          </a:effectLst>
        </p:spPr>
        <p:txBody>
          <a:bodyPr vert="horz" wrap="square" lIns="45720" tIns="45720" rIns="45720" bIns="45720" numCol="1" rtlCol="0" anchor="ctr" anchorCtr="0" compatLnSpc="1">
            <a:prstTxWarp prst="textNoShape">
              <a:avLst/>
            </a:prstTxWarp>
            <a:spAutoFit/>
          </a:bodyPr>
          <a:lstStyle/>
          <a:p>
            <a:pPr marL="0" marR="0" indent="0" algn="l" defTabSz="914400" rtl="0" eaLnBrk="1" fontAlgn="base" latinLnBrk="0" hangingPunct="0">
              <a:lnSpc>
                <a:spcPct val="100000"/>
              </a:lnSpc>
              <a:spcBef>
                <a:spcPct val="0"/>
              </a:spcBef>
              <a:spcAft>
                <a:spcPct val="0"/>
              </a:spcAft>
              <a:buClrTx/>
              <a:buSzTx/>
              <a:buFontTx/>
              <a:buNone/>
              <a:tabLst/>
            </a:pPr>
            <a:endParaRPr kumimoji="0" lang="LID4096" sz="1800" b="0" i="0" u="none" strike="noStrike" cap="none" normalizeH="0" baseline="0">
              <a:ln>
                <a:noFill/>
              </a:ln>
              <a:noFill/>
              <a:effectLst/>
              <a:latin typeface="Calibri" pitchFamily="34" charset="0"/>
              <a:ea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357380883"/>
      </p:ext>
    </p:extLst>
  </p:cSld>
  <p:clrMapOvr>
    <a:masterClrMapping/>
  </p:clrMapOvr>
  <p:transition spd="med">
    <p:push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Shots</a:t>
            </a:r>
            <a:endParaRPr lang="LID4096" b="1" dirty="0"/>
          </a:p>
        </p:txBody>
      </p:sp>
      <p:sp>
        <p:nvSpPr>
          <p:cNvPr id="4" name="TextBox 3">
            <a:extLst>
              <a:ext uri="{FF2B5EF4-FFF2-40B4-BE49-F238E27FC236}">
                <a16:creationId xmlns:a16="http://schemas.microsoft.com/office/drawing/2014/main" id="{B88544AE-0CFA-08D1-FBA6-13E0E29BFAFB}"/>
              </a:ext>
            </a:extLst>
          </p:cNvPr>
          <p:cNvSpPr txBox="1"/>
          <p:nvPr/>
        </p:nvSpPr>
        <p:spPr>
          <a:xfrm>
            <a:off x="395536" y="2019431"/>
            <a:ext cx="8424936" cy="923330"/>
          </a:xfrm>
          <a:prstGeom prst="rect">
            <a:avLst/>
          </a:prstGeom>
          <a:noFill/>
        </p:spPr>
        <p:txBody>
          <a:bodyPr wrap="square">
            <a:spAutoFit/>
          </a:bodyPr>
          <a:lstStyle/>
          <a:p>
            <a:r>
              <a:rPr lang="en-US" b="0" i="0" dirty="0">
                <a:solidFill>
                  <a:srgbClr val="000000"/>
                </a:solidFill>
                <a:effectLst/>
                <a:latin typeface="Sanchez"/>
              </a:rPr>
              <a:t>Formatted like a caps-locked action line, shots direct our attention to a specific visual or way of seeing something. This can include various camera shots, camera angles or camera movements.</a:t>
            </a:r>
          </a:p>
        </p:txBody>
      </p:sp>
      <p:pic>
        <p:nvPicPr>
          <p:cNvPr id="3" name="Picture 2">
            <a:extLst>
              <a:ext uri="{FF2B5EF4-FFF2-40B4-BE49-F238E27FC236}">
                <a16:creationId xmlns:a16="http://schemas.microsoft.com/office/drawing/2014/main" id="{807C8536-E153-65CE-5600-AC204BA10E77}"/>
              </a:ext>
            </a:extLst>
          </p:cNvPr>
          <p:cNvPicPr>
            <a:picLocks noChangeAspect="1"/>
          </p:cNvPicPr>
          <p:nvPr/>
        </p:nvPicPr>
        <p:blipFill>
          <a:blip r:embed="rId2"/>
          <a:stretch>
            <a:fillRect/>
          </a:stretch>
        </p:blipFill>
        <p:spPr>
          <a:xfrm>
            <a:off x="611560" y="3077484"/>
            <a:ext cx="7967025" cy="3591875"/>
          </a:xfrm>
          <a:prstGeom prst="rect">
            <a:avLst/>
          </a:prstGeom>
        </p:spPr>
      </p:pic>
    </p:spTree>
    <p:extLst>
      <p:ext uri="{BB962C8B-B14F-4D97-AF65-F5344CB8AC3E}">
        <p14:creationId xmlns:p14="http://schemas.microsoft.com/office/powerpoint/2010/main" val="1355037609"/>
      </p:ext>
    </p:extLst>
  </p:cSld>
  <p:clrMapOvr>
    <a:masterClrMapping/>
  </p:clrMapOvr>
  <p:transition spd="med">
    <p:push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Examples</a:t>
            </a:r>
            <a:endParaRPr lang="LID4096" b="1" dirty="0"/>
          </a:p>
        </p:txBody>
      </p:sp>
      <p:pic>
        <p:nvPicPr>
          <p:cNvPr id="6" name="Picture 5">
            <a:extLst>
              <a:ext uri="{FF2B5EF4-FFF2-40B4-BE49-F238E27FC236}">
                <a16:creationId xmlns:a16="http://schemas.microsoft.com/office/drawing/2014/main" id="{15BFF8AC-06F8-1D44-AD68-C63618BAAC82}"/>
              </a:ext>
            </a:extLst>
          </p:cNvPr>
          <p:cNvPicPr>
            <a:picLocks noChangeAspect="1"/>
          </p:cNvPicPr>
          <p:nvPr/>
        </p:nvPicPr>
        <p:blipFill>
          <a:blip r:embed="rId2"/>
          <a:stretch>
            <a:fillRect/>
          </a:stretch>
        </p:blipFill>
        <p:spPr>
          <a:xfrm>
            <a:off x="1014752" y="2005922"/>
            <a:ext cx="6754455" cy="4766353"/>
          </a:xfrm>
          <a:prstGeom prst="rect">
            <a:avLst/>
          </a:prstGeom>
        </p:spPr>
      </p:pic>
    </p:spTree>
    <p:extLst>
      <p:ext uri="{BB962C8B-B14F-4D97-AF65-F5344CB8AC3E}">
        <p14:creationId xmlns:p14="http://schemas.microsoft.com/office/powerpoint/2010/main" val="3825330280"/>
      </p:ext>
    </p:extLst>
  </p:cSld>
  <p:clrMapOvr>
    <a:masterClrMapping/>
  </p:clrMapOvr>
  <p:transition spd="med">
    <p:push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5" name="Rectangle 2">
            <a:extLst>
              <a:ext uri="{FF2B5EF4-FFF2-40B4-BE49-F238E27FC236}">
                <a16:creationId xmlns:a16="http://schemas.microsoft.com/office/drawing/2014/main" id="{1C1F3BA3-E10C-70D2-555B-AEEC55CD44FE}"/>
              </a:ext>
            </a:extLst>
          </p:cNvPr>
          <p:cNvSpPr>
            <a:spLocks/>
          </p:cNvSpPr>
          <p:nvPr/>
        </p:nvSpPr>
        <p:spPr bwMode="auto">
          <a:xfrm>
            <a:off x="179512" y="836712"/>
            <a:ext cx="8424936" cy="584775"/>
          </a:xfrm>
          <a:prstGeom prst="rect">
            <a:avLst/>
          </a:prstGeom>
          <a:noFill/>
          <a:ln w="12700">
            <a:noFill/>
            <a:miter lim="400000"/>
            <a:headEnd/>
            <a:tailEnd/>
          </a:ln>
        </p:spPr>
        <p:txBody>
          <a:bodyPr wrap="square" lIns="45720" rIns="45720">
            <a:spAutoFit/>
          </a:bodyPr>
          <a:lstStyle/>
          <a:p>
            <a:pPr algn="ctr"/>
            <a:r>
              <a:rPr lang="en-US" sz="3200" b="1" dirty="0"/>
              <a:t>Screenplay</a:t>
            </a:r>
            <a:r>
              <a:rPr lang="tr-TR" sz="3200" b="1" dirty="0"/>
              <a:t> Format</a:t>
            </a:r>
          </a:p>
        </p:txBody>
      </p:sp>
      <p:sp>
        <p:nvSpPr>
          <p:cNvPr id="8" name="TextBox 7">
            <a:extLst>
              <a:ext uri="{FF2B5EF4-FFF2-40B4-BE49-F238E27FC236}">
                <a16:creationId xmlns:a16="http://schemas.microsoft.com/office/drawing/2014/main" id="{7855FAEC-6DFD-0EE4-DA20-AD8CB3515937}"/>
              </a:ext>
            </a:extLst>
          </p:cNvPr>
          <p:cNvSpPr txBox="1"/>
          <p:nvPr/>
        </p:nvSpPr>
        <p:spPr>
          <a:xfrm>
            <a:off x="395536" y="1515375"/>
            <a:ext cx="4581524" cy="369332"/>
          </a:xfrm>
          <a:prstGeom prst="rect">
            <a:avLst/>
          </a:prstGeom>
          <a:noFill/>
        </p:spPr>
        <p:txBody>
          <a:bodyPr wrap="square">
            <a:spAutoFit/>
          </a:bodyPr>
          <a:lstStyle/>
          <a:p>
            <a:r>
              <a:rPr lang="tr-TR" b="1" dirty="0"/>
              <a:t>Examples</a:t>
            </a:r>
            <a:endParaRPr lang="LID4096" b="1" dirty="0"/>
          </a:p>
        </p:txBody>
      </p:sp>
      <p:pic>
        <p:nvPicPr>
          <p:cNvPr id="3" name="Picture 2">
            <a:extLst>
              <a:ext uri="{FF2B5EF4-FFF2-40B4-BE49-F238E27FC236}">
                <a16:creationId xmlns:a16="http://schemas.microsoft.com/office/drawing/2014/main" id="{EF9A6EA1-F963-083D-F71E-7A235C19C784}"/>
              </a:ext>
            </a:extLst>
          </p:cNvPr>
          <p:cNvPicPr>
            <a:picLocks noChangeAspect="1"/>
          </p:cNvPicPr>
          <p:nvPr/>
        </p:nvPicPr>
        <p:blipFill>
          <a:blip r:embed="rId2"/>
          <a:stretch>
            <a:fillRect/>
          </a:stretch>
        </p:blipFill>
        <p:spPr>
          <a:xfrm>
            <a:off x="1361256" y="1978595"/>
            <a:ext cx="6421487" cy="4345034"/>
          </a:xfrm>
          <a:prstGeom prst="rect">
            <a:avLst/>
          </a:prstGeom>
        </p:spPr>
      </p:pic>
    </p:spTree>
    <p:extLst>
      <p:ext uri="{BB962C8B-B14F-4D97-AF65-F5344CB8AC3E}">
        <p14:creationId xmlns:p14="http://schemas.microsoft.com/office/powerpoint/2010/main" val="356894671"/>
      </p:ext>
    </p:extLst>
  </p:cSld>
  <p:clrMapOvr>
    <a:masterClrMapping/>
  </p:clrMapOvr>
  <p:transition spd="med">
    <p:push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2" name="Rectangle 3">
            <a:extLst>
              <a:ext uri="{FF2B5EF4-FFF2-40B4-BE49-F238E27FC236}">
                <a16:creationId xmlns:a16="http://schemas.microsoft.com/office/drawing/2014/main" id="{7648927A-E9E4-EBDF-E185-4A4F56C2E276}"/>
              </a:ext>
            </a:extLst>
          </p:cNvPr>
          <p:cNvSpPr>
            <a:spLocks/>
          </p:cNvSpPr>
          <p:nvPr/>
        </p:nvSpPr>
        <p:spPr bwMode="auto">
          <a:xfrm>
            <a:off x="1692275" y="3429000"/>
            <a:ext cx="6191250" cy="584200"/>
          </a:xfrm>
          <a:prstGeom prst="rect">
            <a:avLst/>
          </a:prstGeom>
          <a:noFill/>
          <a:ln w="12700">
            <a:noFill/>
            <a:miter lim="400000"/>
            <a:headEnd/>
            <a:tailEnd/>
          </a:ln>
        </p:spPr>
        <p:txBody>
          <a:bodyPr lIns="45720" rIns="45720">
            <a:spAutoFit/>
          </a:bodyPr>
          <a:lstStyle/>
          <a:p>
            <a:pPr algn="ctr"/>
            <a:r>
              <a:rPr lang="tr-TR" sz="3200" b="1" i="1" dirty="0"/>
              <a:t>Thanks for Watching</a:t>
            </a:r>
          </a:p>
        </p:txBody>
      </p:sp>
    </p:spTree>
    <p:extLst>
      <p:ext uri="{BB962C8B-B14F-4D97-AF65-F5344CB8AC3E}">
        <p14:creationId xmlns:p14="http://schemas.microsoft.com/office/powerpoint/2010/main" val="3518006883"/>
      </p:ext>
    </p:extLst>
  </p:cSld>
  <p:clrMapOvr>
    <a:masterClrMapping/>
  </p:clrMapOvr>
  <p:transition spd="med">
    <p:push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p:cNvSpPr>
          <p:nvPr/>
        </p:nvSpPr>
        <p:spPr bwMode="auto">
          <a:xfrm>
            <a:off x="2338388" y="0"/>
            <a:ext cx="6805612" cy="619125"/>
          </a:xfrm>
          <a:prstGeom prst="rect">
            <a:avLst/>
          </a:prstGeom>
          <a:solidFill>
            <a:schemeClr val="accent1"/>
          </a:solidFill>
          <a:ln w="25400">
            <a:solidFill>
              <a:srgbClr val="3A5E8A"/>
            </a:solidFill>
            <a:bevel/>
            <a:headEnd/>
            <a:tailEnd/>
          </a:ln>
        </p:spPr>
        <p:txBody>
          <a:bodyPr lIns="45720" rIns="45720" anchor="ctr"/>
          <a:lstStyle/>
          <a:p>
            <a:pPr algn="ctr"/>
            <a:endParaRPr lang="tr-TR">
              <a:solidFill>
                <a:srgbClr val="FFFFFF"/>
              </a:solidFill>
            </a:endParaRPr>
          </a:p>
        </p:txBody>
      </p:sp>
      <p:sp>
        <p:nvSpPr>
          <p:cNvPr id="3076" name="Rectangle 3"/>
          <p:cNvSpPr>
            <a:spLocks/>
          </p:cNvSpPr>
          <p:nvPr/>
        </p:nvSpPr>
        <p:spPr bwMode="auto">
          <a:xfrm>
            <a:off x="2411413" y="85725"/>
            <a:ext cx="5761037" cy="461665"/>
          </a:xfrm>
          <a:prstGeom prst="rect">
            <a:avLst/>
          </a:prstGeom>
          <a:noFill/>
          <a:ln w="12700">
            <a:noFill/>
            <a:miter lim="400000"/>
            <a:headEnd/>
            <a:tailEnd/>
          </a:ln>
        </p:spPr>
        <p:txBody>
          <a:bodyPr lIns="45720" rIns="45720">
            <a:spAutoFit/>
          </a:bodyPr>
          <a:lstStyle/>
          <a:p>
            <a:pPr lvl="1" algn="ctr"/>
            <a:r>
              <a:rPr lang="tr-TR" sz="2400" b="1" i="1" dirty="0">
                <a:solidFill>
                  <a:srgbClr val="FFFFFF"/>
                </a:solidFill>
              </a:rPr>
              <a:t>SCREENPLAY</a:t>
            </a:r>
            <a:endParaRPr lang="tr-TR" dirty="0"/>
          </a:p>
        </p:txBody>
      </p:sp>
      <p:sp>
        <p:nvSpPr>
          <p:cNvPr id="3" name="Rectangle 3">
            <a:extLst>
              <a:ext uri="{FF2B5EF4-FFF2-40B4-BE49-F238E27FC236}">
                <a16:creationId xmlns:a16="http://schemas.microsoft.com/office/drawing/2014/main" id="{CE707EA0-7B7B-69EF-64D3-6C567831B23B}"/>
              </a:ext>
            </a:extLst>
          </p:cNvPr>
          <p:cNvSpPr>
            <a:spLocks/>
          </p:cNvSpPr>
          <p:nvPr/>
        </p:nvSpPr>
        <p:spPr bwMode="auto">
          <a:xfrm>
            <a:off x="1906588" y="1052513"/>
            <a:ext cx="5761037" cy="646331"/>
          </a:xfrm>
          <a:prstGeom prst="rect">
            <a:avLst/>
          </a:prstGeom>
          <a:noFill/>
          <a:ln w="12700">
            <a:noFill/>
            <a:miter lim="400000"/>
            <a:headEnd/>
            <a:tailEnd/>
          </a:ln>
        </p:spPr>
        <p:txBody>
          <a:bodyPr lIns="45720" rIns="45720">
            <a:spAutoFit/>
          </a:bodyPr>
          <a:lstStyle/>
          <a:p>
            <a:pPr algn="ctr"/>
            <a:r>
              <a:rPr lang="tr-TR" sz="3600" b="1" dirty="0"/>
              <a:t>REFERENCES</a:t>
            </a:r>
            <a:endParaRPr lang="tr-TR" dirty="0"/>
          </a:p>
        </p:txBody>
      </p:sp>
      <p:sp>
        <p:nvSpPr>
          <p:cNvPr id="5" name="TextBox 4">
            <a:extLst>
              <a:ext uri="{FF2B5EF4-FFF2-40B4-BE49-F238E27FC236}">
                <a16:creationId xmlns:a16="http://schemas.microsoft.com/office/drawing/2014/main" id="{6B95F36D-47D7-A56C-E603-D64254CF2D6E}"/>
              </a:ext>
            </a:extLst>
          </p:cNvPr>
          <p:cNvSpPr txBox="1"/>
          <p:nvPr/>
        </p:nvSpPr>
        <p:spPr>
          <a:xfrm>
            <a:off x="582307" y="2564904"/>
            <a:ext cx="7979385" cy="646331"/>
          </a:xfrm>
          <a:prstGeom prst="rect">
            <a:avLst/>
          </a:prstGeom>
          <a:noFill/>
        </p:spPr>
        <p:txBody>
          <a:bodyPr wrap="square">
            <a:spAutoFit/>
          </a:bodyPr>
          <a:lstStyle/>
          <a:p>
            <a:r>
              <a:rPr lang="LID4096" dirty="0"/>
              <a:t>McKee</a:t>
            </a:r>
            <a:r>
              <a:rPr lang="tr-TR" dirty="0"/>
              <a:t>.R, (1997), </a:t>
            </a:r>
            <a:r>
              <a:rPr lang="en-US" i="1" dirty="0"/>
              <a:t>Story: Substance, Structure, Style and the Principles of Screenwriting</a:t>
            </a:r>
            <a:r>
              <a:rPr lang="tr-TR" i="1" dirty="0"/>
              <a:t>, </a:t>
            </a:r>
            <a:r>
              <a:rPr lang="tr-TR" dirty="0"/>
              <a:t>New York:Regan Books</a:t>
            </a:r>
            <a:endParaRPr lang="LID4096" dirty="0"/>
          </a:p>
        </p:txBody>
      </p:sp>
    </p:spTree>
    <p:extLst>
      <p:ext uri="{BB962C8B-B14F-4D97-AF65-F5344CB8AC3E}">
        <p14:creationId xmlns:p14="http://schemas.microsoft.com/office/powerpoint/2010/main" val="4047369565"/>
      </p:ext>
    </p:extLst>
  </p:cSld>
  <p:clrMapOvr>
    <a:masterClrMapping/>
  </p:clrMapOvr>
  <p:transition spd="med">
    <p:push dir="r"/>
  </p:transition>
</p:sld>
</file>

<file path=ppt/theme/theme1.xml><?xml version="1.0" encoding="utf-8"?>
<a:theme xmlns:a="http://schemas.openxmlformats.org/drawingml/2006/main" name="Default">
  <a:themeElements>
    <a:clrScheme name="">
      <a:dk1>
        <a:srgbClr val="000000"/>
      </a:dk1>
      <a:lt1>
        <a:srgbClr val="FFFFFF"/>
      </a:lt1>
      <a:dk2>
        <a:srgbClr val="A7A7A7"/>
      </a:dk2>
      <a:lt2>
        <a:srgbClr val="535353"/>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FF00FF"/>
      </a:folHlink>
    </a:clrScheme>
    <a:fontScheme name="Default">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25400" cap="flat" cmpd="sng" algn="ctr">
          <a:solidFill>
            <a:schemeClr val="accent1"/>
          </a:solidFill>
          <a:prstDash val="solid"/>
          <a:bevel/>
          <a:headEnd type="none" w="med" len="med"/>
          <a:tailEnd type="none" w="med" len="med"/>
        </a:ln>
        <a:effectLst>
          <a:outerShdw dist="23000" dir="5400000" algn="ctr" rotWithShape="0">
            <a:srgbClr val="000000">
              <a:alpha val="34999"/>
            </a:srgbClr>
          </a:outerShdw>
        </a:effectLst>
      </a:spPr>
      <a:bodyPr vert="horz" wrap="square" lIns="45720" tIns="45720" rIns="45720" bIns="45720" numCol="1" anchor="ctr" anchorCtr="0" compatLnSpc="1">
        <a:prstTxWarp prst="textNoShape">
          <a:avLst/>
        </a:prstTxWarp>
        <a:spAutoFit/>
      </a:bodyPr>
      <a:lstStyle>
        <a:defPPr marL="0" marR="0" indent="0" algn="l" defTabSz="914400" rtl="0" eaLnBrk="1" fontAlgn="base" latinLnBrk="0" hangingPunct="0">
          <a:lnSpc>
            <a:spcPct val="100000"/>
          </a:lnSpc>
          <a:spcBef>
            <a:spcPct val="0"/>
          </a:spcBef>
          <a:spcAft>
            <a:spcPct val="0"/>
          </a:spcAft>
          <a:buClrTx/>
          <a:buSzTx/>
          <a:buFontTx/>
          <a:buNone/>
          <a:tabLst/>
          <a:defRPr kumimoji="0" lang="tr-TR" sz="1800" b="0" i="0" u="none" strike="noStrike" cap="none" normalizeH="0" baseline="0" smtClean="0">
            <a:ln>
              <a:noFill/>
            </a:ln>
            <a:solidFill>
              <a:srgbClr val="000000"/>
            </a:solidFill>
            <a:effectLst/>
            <a:latin typeface="Calibri" pitchFamily="34" charset="0"/>
            <a:ea typeface="Calibri" pitchFamily="34" charset="0"/>
            <a:cs typeface="Calibri" pitchFamily="34" charset="0"/>
            <a:sym typeface="Calibri" pitchFamily="34" charset="0"/>
          </a:defRPr>
        </a:defPPr>
      </a:lstStyle>
    </a:spDef>
    <a:lnDef>
      <a:spPr bwMode="auto">
        <a:xfrm>
          <a:off x="0" y="0"/>
          <a:ext cx="1" cy="1"/>
        </a:xfrm>
        <a:custGeom>
          <a:avLst/>
          <a:gdLst/>
          <a:ahLst/>
          <a:cxnLst/>
          <a:rect l="0" t="0" r="0" b="0"/>
          <a:pathLst/>
        </a:custGeom>
        <a:solidFill>
          <a:srgbClr val="FFFFFF"/>
        </a:solidFill>
        <a:ln w="25400" cap="flat" cmpd="sng" algn="ctr">
          <a:solidFill>
            <a:schemeClr val="accent1"/>
          </a:solidFill>
          <a:prstDash val="solid"/>
          <a:bevel/>
          <a:headEnd type="none" w="med" len="med"/>
          <a:tailEnd type="none" w="med" len="med"/>
        </a:ln>
        <a:effectLst>
          <a:outerShdw dist="23000" dir="5400000" algn="ctr" rotWithShape="0">
            <a:srgbClr val="000000">
              <a:alpha val="34999"/>
            </a:srgbClr>
          </a:outerShdw>
        </a:effectLst>
      </a:spPr>
      <a:bodyPr vert="horz" wrap="square" lIns="45720" tIns="45720" rIns="45720" bIns="45720" numCol="1" anchor="ctr" anchorCtr="0" compatLnSpc="1">
        <a:prstTxWarp prst="textNoShape">
          <a:avLst/>
        </a:prstTxWarp>
        <a:spAutoFit/>
      </a:bodyPr>
      <a:lstStyle>
        <a:defPPr marL="0" marR="0" indent="0" algn="l" defTabSz="914400" rtl="0" eaLnBrk="1" fontAlgn="base" latinLnBrk="0" hangingPunct="0">
          <a:lnSpc>
            <a:spcPct val="100000"/>
          </a:lnSpc>
          <a:spcBef>
            <a:spcPct val="0"/>
          </a:spcBef>
          <a:spcAft>
            <a:spcPct val="0"/>
          </a:spcAft>
          <a:buClrTx/>
          <a:buSzTx/>
          <a:buFontTx/>
          <a:buNone/>
          <a:tabLst/>
          <a:defRPr kumimoji="0" lang="tr-TR" sz="1800" b="0" i="0" u="none" strike="noStrike" cap="none" normalizeH="0" baseline="0" smtClean="0">
            <a:ln>
              <a:noFill/>
            </a:ln>
            <a:solidFill>
              <a:srgbClr val="000000"/>
            </a:solidFill>
            <a:effectLst/>
            <a:latin typeface="Calibri" pitchFamily="34" charset="0"/>
            <a:ea typeface="Calibri" pitchFamily="34" charset="0"/>
            <a:cs typeface="Calibri" pitchFamily="34" charset="0"/>
            <a:sym typeface="Calibri" pitchFamily="34" charset="0"/>
          </a:defRPr>
        </a:defPPr>
      </a:lst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A7A7A7"/>
      </a:dk2>
      <a:lt2>
        <a:srgbClr val="535353"/>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FF00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2212</TotalTime>
  <Words>1240</Words>
  <Application>Microsoft Office PowerPoint</Application>
  <PresentationFormat>On-screen Show (4:3)</PresentationFormat>
  <Paragraphs>115</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Helvetica Neue</vt:lpstr>
      <vt:lpstr>Sanchez</vt:lpstr>
      <vt:lpstr>Default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LEVENT</dc:creator>
  <cp:lastModifiedBy>PC</cp:lastModifiedBy>
  <cp:revision>353</cp:revision>
  <dcterms:modified xsi:type="dcterms:W3CDTF">2023-07-06T08:07:03Z</dcterms:modified>
</cp:coreProperties>
</file>